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2b2d22d7-6887-2ece-7068-81651aa17e75}">
          <p14:sldIdLst>
            <p14:sldId id="256"/>
            <p14:sldId id="257"/>
            <p14:sldId id="258"/>
            <p14:sldId id="259"/>
            <p14:sldId id="260"/>
            <p14:sldId id="261"/>
            <p14:sldId id="262"/>
            <p14:sldId id="263"/>
          </p14:sldIdLst>
        </p14:section>
        <p14:section name="Appendix" id="{040bbbcd-3007-6ede-8857-b0fc67298df0}">
          <p14:sldIdLst>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Leads</c:v>
                </c:pt>
              </c:strCache>
            </c:strRef>
          </c:tx>
          <c:spPr>
            <a:solidFill>
              <a:srgbClr val="BFB3BC"/>
            </a:solidFill>
            <a:ln w="31750" cap="flat">
              <a:solidFill>
                <a:srgbClr val="BFB3BC"/>
              </a:solidFill>
              <a:prstDash val="solid"/>
              <a:round/>
            </a:ln>
            <a:effectLst/>
          </c:spPr>
          <c:invertIfNegative val="0"/>
          <c:dLbls>
            <c:numFmt formatCode="#,##0" sourceLinked="0"/>
            <c:txPr>
              <a:bodyPr/>
              <a:lstStyle/>
              <a:p>
                <a:pPr>
                  <a:defRPr b="0" i="0" strike="noStrike" sz="1100" u="none">
                    <a:solidFill>
                      <a:srgbClr val="1E1B24"/>
                    </a:solidFill>
                    <a:latin typeface="Calibri"/>
                  </a:defRPr>
                </a:pPr>
              </a:p>
            </c:txPr>
            <c:showLegendKey val="0"/>
            <c:showVal val="0"/>
            <c:showCatName val="0"/>
            <c:showSerName val="0"/>
            <c:showPercent val="0"/>
            <c:showBubbleSize val="0"/>
            <c:showLeaderLines val="0"/>
          </c:dLbls>
          <c:marker>
            <c:symbol val="circle"/>
            <c:size val="6"/>
            <c:spPr>
              <a:solidFill>
                <a:srgbClr val="BFB3BC"/>
              </a:solidFill>
              <a:ln w="9525" cap="flat">
                <a:solidFill>
                  <a:srgbClr val="BFB3BC"/>
                </a:solidFill>
                <a:prstDash val="solid"/>
                <a:round/>
              </a:ln>
              <a:effectLst/>
            </c:spPr>
          </c:marker>
          <c:cat>
            <c:multiLvlStrRef>
              <c:f>Sheet1!$A$2:$A$13</c:f>
              <c:multiLvlStrCache>
                <c:ptCount val="12"/>
                <c:lvl>
                  <c:pt idx="0">
                    <c:v>Feb-21</c:v>
                  </c:pt>
                  <c:pt idx="1">
                    <c:v>Mar-21</c:v>
                  </c:pt>
                  <c:pt idx="2">
                    <c:v>Apr-21</c:v>
                  </c:pt>
                  <c:pt idx="3">
                    <c:v>May-21</c:v>
                  </c:pt>
                  <c:pt idx="4">
                    <c:v>Jun-21</c:v>
                  </c:pt>
                  <c:pt idx="5">
                    <c:v>Jul-21</c:v>
                  </c:pt>
                  <c:pt idx="6">
                    <c:v>Aug-21</c:v>
                  </c:pt>
                  <c:pt idx="7">
                    <c:v>Sep-21</c:v>
                  </c:pt>
                  <c:pt idx="8">
                    <c:v>Oct-21</c:v>
                  </c:pt>
                  <c:pt idx="9">
                    <c:v>Nov-21</c:v>
                  </c:pt>
                  <c:pt idx="10">
                    <c:v>Dec-21</c:v>
                  </c:pt>
                  <c:pt idx="11">
                    <c:v>Jan-22</c:v>
                  </c:pt>
                </c:lvl>
              </c:multiLvlStrCache>
            </c:multiLvlStrRef>
          </c:cat>
          <c:val>
            <c:numRef>
              <c:f>Sheet1!$B$2:$B$13</c:f>
              <c:numCache>
                <c:formatCode>General</c:formatCode>
                <c:ptCount val="12"/>
                <c:pt idx="0">
                  <c:v>1155</c:v>
                </c:pt>
                <c:pt idx="1">
                  <c:v>1214</c:v>
                </c:pt>
                <c:pt idx="2">
                  <c:v>1315</c:v>
                </c:pt>
                <c:pt idx="3">
                  <c:v>1399</c:v>
                </c:pt>
                <c:pt idx="4">
                  <c:v>1444</c:v>
                </c:pt>
                <c:pt idx="5">
                  <c:v>1560</c:v>
                </c:pt>
                <c:pt idx="6">
                  <c:v>1605</c:v>
                </c:pt>
                <c:pt idx="7">
                  <c:v>1652</c:v>
                </c:pt>
                <c:pt idx="8">
                  <c:v>1877</c:v>
                </c:pt>
                <c:pt idx="9">
                  <c:v>1001</c:v>
                </c:pt>
                <c:pt idx="10">
                  <c:v>1015</c:v>
                </c:pt>
                <c:pt idx="11">
                  <c:v>1915</c:v>
                </c:pt>
              </c:numCache>
            </c:numRef>
          </c:val>
          <c:smooth val="0"/>
        </c:ser>
        <c:ser>
          <c:idx val="1"/>
          <c:order val="1"/>
          <c:tx>
            <c:strRef>
              <c:f>Sheet1!$C$1</c:f>
              <c:strCache>
                <c:ptCount val="1"/>
                <c:pt idx="0">
                  <c:v>Demos</c:v>
                </c:pt>
              </c:strCache>
            </c:strRef>
          </c:tx>
          <c:spPr>
            <a:solidFill>
              <a:srgbClr val="4B1D3F"/>
            </a:solidFill>
            <a:ln w="31750" cap="flat">
              <a:solidFill>
                <a:srgbClr val="4B1D3F"/>
              </a:solidFill>
              <a:prstDash val="solid"/>
              <a:round/>
            </a:ln>
            <a:effectLst/>
          </c:spPr>
          <c:invertIfNegative val="0"/>
          <c:dLbls>
            <c:numFmt formatCode="#,##0" sourceLinked="0"/>
            <c:txPr>
              <a:bodyPr/>
              <a:lstStyle/>
              <a:p>
                <a:pPr>
                  <a:defRPr b="0" i="0" strike="noStrike" sz="1100" u="none">
                    <a:solidFill>
                      <a:srgbClr val="1E1B24"/>
                    </a:solidFill>
                    <a:latin typeface="Calibri"/>
                  </a:defRPr>
                </a:pPr>
              </a:p>
            </c:txPr>
            <c:showLegendKey val="0"/>
            <c:showVal val="0"/>
            <c:showCatName val="0"/>
            <c:showSerName val="0"/>
            <c:showPercent val="0"/>
            <c:showBubbleSize val="0"/>
            <c:showLeaderLines val="0"/>
          </c:dLbls>
          <c:marker>
            <c:symbol val="circle"/>
            <c:size val="6"/>
            <c:spPr>
              <a:solidFill>
                <a:srgbClr val="4B1D3F"/>
              </a:solidFill>
              <a:ln w="9525" cap="flat">
                <a:solidFill>
                  <a:srgbClr val="4B1D3F"/>
                </a:solidFill>
                <a:prstDash val="solid"/>
                <a:round/>
              </a:ln>
              <a:effectLst/>
            </c:spPr>
          </c:marker>
          <c:cat>
            <c:multiLvlStrRef>
              <c:f>Sheet1!$A$2:$A$13</c:f>
              <c:multiLvlStrCache>
                <c:ptCount val="12"/>
                <c:lvl>
                  <c:pt idx="0">
                    <c:v>Feb-21</c:v>
                  </c:pt>
                  <c:pt idx="1">
                    <c:v>Mar-21</c:v>
                  </c:pt>
                  <c:pt idx="2">
                    <c:v>Apr-21</c:v>
                  </c:pt>
                  <c:pt idx="3">
                    <c:v>May-21</c:v>
                  </c:pt>
                  <c:pt idx="4">
                    <c:v>Jun-21</c:v>
                  </c:pt>
                  <c:pt idx="5">
                    <c:v>Jul-21</c:v>
                  </c:pt>
                  <c:pt idx="6">
                    <c:v>Aug-21</c:v>
                  </c:pt>
                  <c:pt idx="7">
                    <c:v>Sep-21</c:v>
                  </c:pt>
                  <c:pt idx="8">
                    <c:v>Oct-21</c:v>
                  </c:pt>
                  <c:pt idx="9">
                    <c:v>Nov-21</c:v>
                  </c:pt>
                  <c:pt idx="10">
                    <c:v>Dec-21</c:v>
                  </c:pt>
                  <c:pt idx="11">
                    <c:v>Jan-22</c:v>
                  </c:pt>
                </c:lvl>
              </c:multiLvlStrCache>
            </c:multiLvlStrRef>
          </c:cat>
          <c:val>
            <c:numRef>
              <c:f>Sheet1!$C$2:$C$13</c:f>
              <c:numCache>
                <c:formatCode>General</c:formatCode>
                <c:ptCount val="12"/>
                <c:pt idx="0">
                  <c:v>410</c:v>
                </c:pt>
                <c:pt idx="1">
                  <c:v>401</c:v>
                </c:pt>
                <c:pt idx="2">
                  <c:v>416</c:v>
                </c:pt>
                <c:pt idx="3">
                  <c:v>424</c:v>
                </c:pt>
                <c:pt idx="4">
                  <c:v>423</c:v>
                </c:pt>
                <c:pt idx="5">
                  <c:v>450</c:v>
                </c:pt>
                <c:pt idx="6">
                  <c:v>454</c:v>
                </c:pt>
                <c:pt idx="7">
                  <c:v>466</c:v>
                </c:pt>
                <c:pt idx="8">
                  <c:v>528</c:v>
                </c:pt>
                <c:pt idx="9">
                  <c:v>229</c:v>
                </c:pt>
                <c:pt idx="10">
                  <c:v>212</c:v>
                </c:pt>
                <c:pt idx="11">
                  <c:v>538</c:v>
                </c:pt>
              </c:numCache>
            </c:numRef>
          </c:val>
          <c:smooth val="0"/>
        </c:ser>
        <c:dLbls>
          <c:numFmt formatCode="#,##0" sourceLinked="0"/>
          <c:txPr>
            <a:bodyPr/>
            <a:lstStyle/>
            <a:p>
              <a:pPr>
                <a:defRPr b="0" i="0" strike="noStrike" sz="1100" u="none">
                  <a:solidFill>
                    <a:srgbClr val="1E1B24"/>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47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47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ARR per lead</c:v>
                </c:pt>
              </c:strCache>
            </c:strRef>
          </c:tx>
          <c:spPr>
            <a:solidFill>
              <a:srgbClr val="BFB3BC"/>
            </a:solidFill>
            <a:effectLst/>
          </c:spPr>
          <c:invertIfNegative val="0"/>
          <c:dLbls>
            <c:numFmt formatCode="$#,##0" sourceLinked="0"/>
            <c:txPr>
              <a:bodyPr/>
              <a:lstStyle/>
              <a:p>
                <a:pPr>
                  <a:defRPr b="0" i="0" strike="noStrike" sz="1300" u="none">
                    <a:solidFill>
                      <a:srgbClr val="1E1B24"/>
                    </a:solidFill>
                    <a:latin typeface="Calibri"/>
                  </a:defRPr>
                </a:pPr>
              </a:p>
            </c:txPr>
            <c:showLegendKey val="0"/>
            <c:showVal val="1"/>
            <c:showCatName val="0"/>
            <c:showSerName val="0"/>
            <c:showPercent val="0"/>
            <c:showBubbleSize val="0"/>
            <c:showLeaderLines val="0"/>
          </c:dLbls>
          <c:dPt>
            <c:idx val="0"/>
            <c:invertIfNegative val="0"/>
            <c:bubble3D val="0"/>
            <c:spPr>
              <a:solidFill>
                <a:srgbClr val="BFB3BC"/>
              </a:solidFill>
              <a:effectLst/>
            </c:spPr>
          </c:dPt>
          <c:dPt>
            <c:idx val="1"/>
            <c:invertIfNegative val="0"/>
            <c:bubble3D val="0"/>
            <c:spPr>
              <a:solidFill>
                <a:srgbClr val="4B1D3F"/>
              </a:solidFill>
              <a:effectLst/>
            </c:spPr>
          </c:dPt>
          <c:dPt>
            <c:idx val="2"/>
            <c:invertIfNegative val="0"/>
            <c:bubble3D val="0"/>
            <c:spPr>
              <a:solidFill>
                <a:srgbClr val="BFB3BC"/>
              </a:solidFill>
              <a:effectLst/>
            </c:spPr>
          </c:dPt>
          <c:dPt>
            <c:idx val="3"/>
            <c:invertIfNegative val="0"/>
            <c:bubble3D val="0"/>
            <c:spPr>
              <a:solidFill>
                <a:srgbClr val="BFB3BC"/>
              </a:solidFill>
              <a:effectLst/>
            </c:spPr>
          </c:dPt>
          <c:cat>
            <c:multiLvlStrRef>
              <c:f>Sheet1!$A$2:$A$5</c:f>
              <c:multiLvlStrCache>
                <c:ptCount val="4"/>
                <c:lvl>
                  <c:pt idx="0">
                    <c:v>1–50
Velocity</c:v>
                  </c:pt>
                  <c:pt idx="1">
                    <c:v>51–100
Emerging MM</c:v>
                  </c:pt>
                  <c:pt idx="2">
                    <c:v>101–500
Core MM</c:v>
                  </c:pt>
                  <c:pt idx="3">
                    <c:v>501+
Enterprise</c:v>
                  </c:pt>
                </c:lvl>
              </c:multiLvlStrCache>
            </c:multiLvlStrRef>
          </c:cat>
          <c:val>
            <c:numRef>
              <c:f>Sheet1!$B$2:$B$5</c:f>
              <c:numCache>
                <c:formatCode>General</c:formatCode>
                <c:ptCount val="4"/>
                <c:pt idx="0">
                  <c:v>369</c:v>
                </c:pt>
                <c:pt idx="1">
                  <c:v>895</c:v>
                </c:pt>
                <c:pt idx="2">
                  <c:v>575</c:v>
                </c:pt>
                <c:pt idx="3">
                  <c:v>548</c:v>
                </c:pt>
              </c:numCache>
            </c:numRef>
          </c:val>
        </c:ser>
        <c:dLbls>
          <c:numFmt formatCode="$#,##0" sourceLinked="0"/>
          <c:txPr>
            <a:bodyPr/>
            <a:lstStyle/>
            <a:p>
              <a:pPr>
                <a:defRPr b="0" i="0" strike="noStrike" sz="1300" u="none">
                  <a:solidFill>
                    <a:srgbClr val="1E1B24"/>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47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ARR growth</c:v>
                </c:pt>
              </c:strCache>
            </c:strRef>
          </c:tx>
          <c:spPr>
            <a:solidFill>
              <a:srgbClr val="BFB3BC"/>
            </a:solidFill>
            <a:effectLst/>
          </c:spPr>
          <c:invertIfNegative val="0"/>
          <c:dLbls>
            <c:numFmt formatCode="0%" sourceLinked="0"/>
            <c:txPr>
              <a:bodyPr/>
              <a:lstStyle/>
              <a:p>
                <a:pPr>
                  <a:defRPr b="0" i="0" strike="noStrike" sz="1300" u="none">
                    <a:solidFill>
                      <a:srgbClr val="1E1B24"/>
                    </a:solidFill>
                    <a:latin typeface="Calibri"/>
                  </a:defRPr>
                </a:pPr>
              </a:p>
            </c:txPr>
            <c:showLegendKey val="0"/>
            <c:showVal val="1"/>
            <c:showCatName val="0"/>
            <c:showSerName val="0"/>
            <c:showPercent val="0"/>
            <c:showBubbleSize val="0"/>
            <c:showLeaderLines val="0"/>
          </c:dLbls>
          <c:dPt>
            <c:idx val="0"/>
            <c:invertIfNegative val="0"/>
            <c:bubble3D val="0"/>
            <c:spPr>
              <a:solidFill>
                <a:srgbClr val="BFB3BC"/>
              </a:solidFill>
              <a:effectLst/>
            </c:spPr>
          </c:dPt>
          <c:dPt>
            <c:idx val="1"/>
            <c:invertIfNegative val="0"/>
            <c:bubble3D val="0"/>
            <c:spPr>
              <a:solidFill>
                <a:srgbClr val="BFB3BC"/>
              </a:solidFill>
              <a:effectLst/>
            </c:spPr>
          </c:dPt>
          <c:dPt>
            <c:idx val="2"/>
            <c:invertIfNegative val="0"/>
            <c:bubble3D val="0"/>
            <c:spPr>
              <a:solidFill>
                <a:srgbClr val="4B1D3F"/>
              </a:solidFill>
              <a:effectLst/>
            </c:spPr>
          </c:dPt>
          <c:dPt>
            <c:idx val="3"/>
            <c:invertIfNegative val="0"/>
            <c:bubble3D val="0"/>
            <c:spPr>
              <a:solidFill>
                <a:srgbClr val="4B1D3F"/>
              </a:solidFill>
              <a:effectLst/>
            </c:spPr>
          </c:dPt>
          <c:cat>
            <c:multiLvlStrRef>
              <c:f>Sheet1!$A$2:$A$5</c:f>
              <c:multiLvlStrCache>
                <c:ptCount val="4"/>
                <c:lvl>
                  <c:pt idx="0">
                    <c:v>1–50</c:v>
                  </c:pt>
                  <c:pt idx="1">
                    <c:v>51–100</c:v>
                  </c:pt>
                  <c:pt idx="2">
                    <c:v>101–500</c:v>
                  </c:pt>
                  <c:pt idx="3">
                    <c:v>501+</c:v>
                  </c:pt>
                </c:lvl>
              </c:multiLvlStrCache>
            </c:multiLvlStrRef>
          </c:cat>
          <c:val>
            <c:numRef>
              <c:f>Sheet1!$B$2:$B$5</c:f>
              <c:numCache>
                <c:formatCode>General</c:formatCode>
                <c:ptCount val="4"/>
                <c:pt idx="0">
                  <c:v>0.0355072155971585</c:v>
                </c:pt>
                <c:pt idx="1">
                  <c:v>0.0974623641232104</c:v>
                </c:pt>
                <c:pt idx="2">
                  <c:v>0.363120629613854</c:v>
                </c:pt>
                <c:pt idx="3">
                  <c:v>0.578527221560627</c:v>
                </c:pt>
              </c:numCache>
            </c:numRef>
          </c:val>
        </c:ser>
        <c:dLbls>
          <c:numFmt formatCode="0%" sourceLinked="0"/>
          <c:txPr>
            <a:bodyPr/>
            <a:lstStyle/>
            <a:p>
              <a:pPr>
                <a:defRPr b="0" i="0" strike="noStrike" sz="1300" u="none">
                  <a:solidFill>
                    <a:srgbClr val="1E1B24"/>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47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goal: show how I'd read the business, segment prospects, and staff SDRs, AEs and SCs to grow new-logo ARR. Seven slides, then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business is growing, mostly because more leads come in. Conversion at the first step is slipping and the mix is moving to larger, harder deals. That shapes three things: fix first touch, segment where the data breaks, and staff each segment for its motion. Baseline run-rate $12.31M = Aug-Oct average x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Leads rose 27% between the Feb-Jul and Aug-Oct averages; demos did not keep up. Lead-to-demo fell −3.0 pts (about 10% relative), the largest slippage of any stage. Post-demo rates moved far less. Within segments, 1-50 and 51-100 slipped most; Enterprise held. Part of the blended drop is mix toward larger accounts. I call this a potential bottleneck, not a proven SDR capacity issue: the same pattern fits slower follow-up, weaker lead quality, or scheduling friction. Each points to a different fix, so we test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51-100 earns $895 of ARR per lead versus $575 for 101-500 and $548 for 501+. It converts like small business but at 2.5x the deal size. It also saw the biggest lead-to-demo slip. Careful: this is revenue yield, not ROI. We have no cost data, and larger deals may cost more to win. The point is that every lead lost here costs the most ARR.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ARR grew 58% and Core MM 36%, against single digits below 100 employees. But lead-to-win is 4.6% in 101-500 and 2.4% in 501+, versus about 10% below 100. Demo-to-opp falls and demos per logo rise, so these are harder, multi-stakeholder deals. That's the case for SC support upmarket, and for caution before scaling expensive Enterprise coverage. The 1-10 bucket shrank over the year; it should be low-touch.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didn't assume standard SMB/MM/ENT lines. I put a boundary wherever the data changes. At 50, deal size jumps about 2.5x while conversion stays flat. At 100, conversion halves. At 500, it halves again and deal size nearly doubles. Four segments sit inside three motions, so 51-100 and 101-500 share Mid-Market leadership and an SC pool but have separate AE teams and quotas. The conventional 1-100 split would put 51-100 deals in the same queue as $3K deals. The cost of four segments is a bit more routing and comp-plan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required capacity at Aug-Oct demand, not a hiring plan. We don't know current headcount, so the action is to compare this to the current team and hire only the gap. The math is one line per role, using illustrative capacity assumptions and 85% utilization, rounded up so the team covers modeled workload. Below 100 employees, SC needs are fractional, so one shared SC pool covers Velocity and Mid-Market. Enterprise gets dedicated SCs at roughly 1.8 AEs per SC. If lead-to-demo recovers, demos rise about 36 a month, adding one Core MM AE and about $0.86M of ARR. That upside depends on the cause of the decline. I'm not claiming this mix is optimal; it's what these assumptions imply, and the model lets you change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One: before adding pipeline spend or SDRs, find out why lead-to-demo slipped; the 30-day diagnostic separates capacity from lead quality. Two: organize by the four segments, with 51-100 routed first. Three: staff to required capacity and hire only the gap; add the upside AE only if the pilot shows recovery. Four: invest upmarket with discipline. Enterprise gets full SC support but no expansion until win rates move, and 1-10 goes low-touch. Where I'd avoid overinvesting: Enterprise AE expansion, 1-10 headcount, and more lead generation before the first-touch issue is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rtlCol="0"/>
          <a:lstStyle>
            <a:lvl1pPr algn="l" indent="0" marL="0">
              <a:buNone/>
              <a:defRPr lang="en-US" sz="2600" b="1" dirty="0">
                <a:solidFill>
                  <a:srgbClr val="4B1D3F"/>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4B1D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749040"/>
            <a:ext cx="10698480" cy="1097280"/>
          </a:xfrm>
          <a:prstGeom prst="rect">
            <a:avLst/>
          </a:prstGeom>
          <a:noFill/>
          <a:ln/>
        </p:spPr>
        <p:txBody>
          <a:bodyPr wrap="square" rtlCol="0"/>
          <a:lstStyle>
            <a:lvl1pPr indent="0" marL="0">
              <a:buNone/>
              <a:defRPr lang="en-US" sz="1800" dirty="0">
                <a:solidFill>
                  <a:srgbClr val="E9DDE5"/>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New-business segmentation and sales staffing</a:t>
            </a:r>
            <a:endParaRPr lang="en-US" sz="4000" dirty="0"/>
          </a:p>
        </p:txBody>
      </p:sp>
      <p:sp>
        <p:nvSpPr>
          <p:cNvPr id="3" name="Text 0"/>
          <p:cNvSpPr/>
          <p:nvPr>
            <p:ph idx="101" type="body" hasCustomPrompt="1"/>
          </p:nvPr>
        </p:nvSpPr>
        <p:spPr>
          <a:xfrm>
            <a:off x="731520" y="3749040"/>
            <a:ext cx="10698480" cy="1097280"/>
          </a:xfrm>
          <a:prstGeom prst="rect">
            <a:avLst/>
          </a:prstGeom>
          <a:noFill/>
          <a:ln/>
        </p:spPr>
        <p:txBody>
          <a:bodyPr wrap="square" lIns="0" tIns="0" rIns="0" bIns="0" rtlCol="0" anchor="t"/>
          <a:lstStyle/>
          <a:p>
            <a:pPr indent="0" marL="0">
              <a:buNone/>
            </a:pPr>
            <a:r>
              <a:rPr lang="en-US" sz="1800" dirty="0">
                <a:solidFill>
                  <a:srgbClr val="E9DDE5"/>
                </a:solidFill>
              </a:rPr>
              <a:t>Revenue Strategy &amp; Operations case study  |  Fictional dataset, Feb-2021 to Jan-2022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Growth is volume-led; the next ARR gains come from fixing first touch and staffing by segment</a:t>
            </a:r>
            <a:endParaRPr lang="en-US" sz="2600" dirty="0"/>
          </a:p>
        </p:txBody>
      </p:sp>
      <p:sp>
        <p:nvSpPr>
          <p:cNvPr id="3" name="Subtitle"/>
          <p:cNvSpPr txBox="1"/>
          <p:nvPr/>
        </p:nvSpPr>
        <p:spPr>
          <a:xfrm>
            <a:off x="457200" y="1097280"/>
            <a:ext cx="11274552" cy="365760"/>
          </a:xfrm>
          <a:prstGeom prst="rect">
            <a:avLst/>
          </a:prstGeom>
          <a:noFill/>
          <a:ln/>
        </p:spPr>
        <p:txBody>
          <a:bodyPr wrap="square" lIns="0" tIns="0" rIns="0" bIns="0" rtlCol="0" anchor="ctr"/>
          <a:lstStyle/>
          <a:p>
            <a:pPr indent="0" marL="0">
              <a:buNone/>
            </a:pPr>
            <a:r>
              <a:rPr lang="en-US" sz="1500" dirty="0">
                <a:solidFill>
                  <a:srgbClr val="6B6470"/>
                </a:solidFill>
              </a:rPr>
              <a:t>Monthly new ARR grew 26% (Feb–Jul to Aug–Oct 2021 average) to a $12.3M annualized run-rate. Three findings shape the plan.</a:t>
            </a:r>
            <a:endParaRPr lang="en-US" sz="1500" dirty="0"/>
          </a:p>
        </p:txBody>
      </p:sp>
      <p:sp>
        <p:nvSpPr>
          <p:cNvPr id="4" name="Finding 1"/>
          <p:cNvSpPr/>
          <p:nvPr/>
        </p:nvSpPr>
        <p:spPr>
          <a:xfrm>
            <a:off x="457200" y="1737360"/>
            <a:ext cx="6675120" cy="1188720"/>
          </a:xfrm>
          <a:prstGeom prst="rect">
            <a:avLst/>
          </a:prstGeom>
          <a:solidFill>
            <a:srgbClr val="F3EFF2"/>
          </a:solidFill>
          <a:ln w="12700">
            <a:solidFill>
              <a:srgbClr val="F3EFF2"/>
            </a:solidFill>
            <a:prstDash val="solid"/>
          </a:ln>
        </p:spPr>
      </p:sp>
      <p:sp>
        <p:nvSpPr>
          <p:cNvPr id="5" name="Badge 1"/>
          <p:cNvSpPr/>
          <p:nvPr/>
        </p:nvSpPr>
        <p:spPr>
          <a:xfrm>
            <a:off x="685800" y="2103120"/>
            <a:ext cx="457200" cy="457200"/>
          </a:xfrm>
          <a:prstGeom prst="ellipse">
            <a:avLst/>
          </a:prstGeom>
          <a:solidFill>
            <a:srgbClr val="4B1D3F"/>
          </a:solidFill>
          <a:ln w="12700">
            <a:solidFill>
              <a:srgbClr val="4B1D3F"/>
            </a:solidFill>
            <a:prstDash val="solid"/>
          </a:ln>
        </p:spPr>
      </p:sp>
      <p:sp>
        <p:nvSpPr>
          <p:cNvPr id="6" name="Text 4"/>
          <p:cNvSpPr txBox="1"/>
          <p:nvPr/>
        </p:nvSpPr>
        <p:spPr>
          <a:xfrm>
            <a:off x="685800" y="2103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1325880" y="1874520"/>
            <a:ext cx="5669280" cy="365760"/>
          </a:xfrm>
          <a:prstGeom prst="rect">
            <a:avLst/>
          </a:prstGeom>
          <a:noFill/>
          <a:ln/>
        </p:spPr>
        <p:txBody>
          <a:bodyPr wrap="square" lIns="0" tIns="0" rIns="0" bIns="0" rtlCol="0" anchor="ctr"/>
          <a:lstStyle/>
          <a:p>
            <a:pPr indent="0" marL="0">
              <a:buNone/>
            </a:pPr>
            <a:r>
              <a:rPr lang="en-US" sz="1700" b="1" dirty="0">
                <a:solidFill>
                  <a:srgbClr val="4B1D3F"/>
                </a:solidFill>
              </a:rPr>
              <a:t>Leads outran demos</a:t>
            </a:r>
            <a:endParaRPr lang="en-US" sz="1700" dirty="0"/>
          </a:p>
        </p:txBody>
      </p:sp>
      <p:sp>
        <p:nvSpPr>
          <p:cNvPr id="8" name="Text 6"/>
          <p:cNvSpPr txBox="1"/>
          <p:nvPr/>
        </p:nvSpPr>
        <p:spPr>
          <a:xfrm>
            <a:off x="1325880" y="2240280"/>
            <a:ext cx="5669280" cy="640080"/>
          </a:xfrm>
          <a:prstGeom prst="rect">
            <a:avLst/>
          </a:prstGeom>
          <a:noFill/>
          <a:ln/>
        </p:spPr>
        <p:txBody>
          <a:bodyPr wrap="square" lIns="0" tIns="0" rIns="0" bIns="0" rtlCol="0" anchor="t"/>
          <a:lstStyle/>
          <a:p>
            <a:pPr indent="0" marL="0">
              <a:buNone/>
            </a:pPr>
            <a:r>
              <a:rPr lang="en-US" sz="1400" dirty="0">
                <a:solidFill>
                  <a:srgbClr val="1E1B24"/>
                </a:solidFill>
              </a:rPr>
              <a:t>Leads +27%, but lead→demo fell 31.2% → 28.2%. A potential top-of-funnel bottleneck; cause not yet proven.</a:t>
            </a:r>
            <a:endParaRPr lang="en-US" sz="1400" dirty="0"/>
          </a:p>
        </p:txBody>
      </p:sp>
      <p:sp>
        <p:nvSpPr>
          <p:cNvPr id="9" name="Finding 2"/>
          <p:cNvSpPr/>
          <p:nvPr/>
        </p:nvSpPr>
        <p:spPr>
          <a:xfrm>
            <a:off x="457200" y="3108960"/>
            <a:ext cx="6675120" cy="1188720"/>
          </a:xfrm>
          <a:prstGeom prst="rect">
            <a:avLst/>
          </a:prstGeom>
          <a:solidFill>
            <a:srgbClr val="F3EFF2"/>
          </a:solidFill>
          <a:ln w="12700">
            <a:solidFill>
              <a:srgbClr val="F3EFF2"/>
            </a:solidFill>
            <a:prstDash val="solid"/>
          </a:ln>
        </p:spPr>
      </p:sp>
      <p:sp>
        <p:nvSpPr>
          <p:cNvPr id="10" name="Badge 2"/>
          <p:cNvSpPr/>
          <p:nvPr/>
        </p:nvSpPr>
        <p:spPr>
          <a:xfrm>
            <a:off x="685800" y="3474720"/>
            <a:ext cx="457200" cy="457200"/>
          </a:xfrm>
          <a:prstGeom prst="ellipse">
            <a:avLst/>
          </a:prstGeom>
          <a:solidFill>
            <a:srgbClr val="4B1D3F"/>
          </a:solidFill>
          <a:ln w="12700">
            <a:solidFill>
              <a:srgbClr val="4B1D3F"/>
            </a:solidFill>
            <a:prstDash val="solid"/>
          </a:ln>
        </p:spPr>
      </p:sp>
      <p:sp>
        <p:nvSpPr>
          <p:cNvPr id="11" name="Text 9"/>
          <p:cNvSpPr txBox="1"/>
          <p:nvPr/>
        </p:nvSpPr>
        <p:spPr>
          <a:xfrm>
            <a:off x="68580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1325880" y="3246120"/>
            <a:ext cx="5669280" cy="365760"/>
          </a:xfrm>
          <a:prstGeom prst="rect">
            <a:avLst/>
          </a:prstGeom>
          <a:noFill/>
          <a:ln/>
        </p:spPr>
        <p:txBody>
          <a:bodyPr wrap="square" lIns="0" tIns="0" rIns="0" bIns="0" rtlCol="0" anchor="ctr"/>
          <a:lstStyle/>
          <a:p>
            <a:pPr indent="0" marL="0">
              <a:buNone/>
            </a:pPr>
            <a:r>
              <a:rPr lang="en-US" sz="1700" b="1" dirty="0">
                <a:solidFill>
                  <a:srgbClr val="4B1D3F"/>
                </a:solidFill>
              </a:rPr>
              <a:t>51–100 has the best revenue yield</a:t>
            </a:r>
            <a:endParaRPr lang="en-US" sz="1700" dirty="0"/>
          </a:p>
        </p:txBody>
      </p:sp>
      <p:sp>
        <p:nvSpPr>
          <p:cNvPr id="13" name="Text 11"/>
          <p:cNvSpPr txBox="1"/>
          <p:nvPr/>
        </p:nvSpPr>
        <p:spPr>
          <a:xfrm>
            <a:off x="1325880" y="3611880"/>
            <a:ext cx="5669280" cy="640080"/>
          </a:xfrm>
          <a:prstGeom prst="rect">
            <a:avLst/>
          </a:prstGeom>
          <a:noFill/>
          <a:ln/>
        </p:spPr>
        <p:txBody>
          <a:bodyPr wrap="square" lIns="0" tIns="0" rIns="0" bIns="0" rtlCol="0" anchor="t"/>
          <a:lstStyle/>
          <a:p>
            <a:pPr indent="0" marL="0">
              <a:buNone/>
            </a:pPr>
            <a:r>
              <a:rPr lang="en-US" sz="1400" dirty="0">
                <a:solidFill>
                  <a:srgbClr val="1E1B24"/>
                </a:solidFill>
              </a:rPr>
              <a:t>$895 ARR per lead, highest of any segment: small-business conversion at 2.5× the deal size.</a:t>
            </a:r>
            <a:endParaRPr lang="en-US" sz="1400" dirty="0"/>
          </a:p>
        </p:txBody>
      </p:sp>
      <p:sp>
        <p:nvSpPr>
          <p:cNvPr id="14" name="Finding 3"/>
          <p:cNvSpPr/>
          <p:nvPr/>
        </p:nvSpPr>
        <p:spPr>
          <a:xfrm>
            <a:off x="457200" y="4480560"/>
            <a:ext cx="6675120" cy="1188720"/>
          </a:xfrm>
          <a:prstGeom prst="rect">
            <a:avLst/>
          </a:prstGeom>
          <a:solidFill>
            <a:srgbClr val="F3EFF2"/>
          </a:solidFill>
          <a:ln w="12700">
            <a:solidFill>
              <a:srgbClr val="F3EFF2"/>
            </a:solidFill>
            <a:prstDash val="solid"/>
          </a:ln>
        </p:spPr>
      </p:sp>
      <p:sp>
        <p:nvSpPr>
          <p:cNvPr id="15" name="Badge 3"/>
          <p:cNvSpPr/>
          <p:nvPr/>
        </p:nvSpPr>
        <p:spPr>
          <a:xfrm>
            <a:off x="685800" y="4846320"/>
            <a:ext cx="457200" cy="457200"/>
          </a:xfrm>
          <a:prstGeom prst="ellipse">
            <a:avLst/>
          </a:prstGeom>
          <a:solidFill>
            <a:srgbClr val="4B1D3F"/>
          </a:solidFill>
          <a:ln w="12700">
            <a:solidFill>
              <a:srgbClr val="4B1D3F"/>
            </a:solidFill>
            <a:prstDash val="solid"/>
          </a:ln>
        </p:spPr>
      </p:sp>
      <p:sp>
        <p:nvSpPr>
          <p:cNvPr id="16" name="Text 14"/>
          <p:cNvSpPr txBox="1"/>
          <p:nvPr/>
        </p:nvSpPr>
        <p:spPr>
          <a:xfrm>
            <a:off x="685800" y="4846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txBox="1"/>
          <p:nvPr/>
        </p:nvSpPr>
        <p:spPr>
          <a:xfrm>
            <a:off x="1325880" y="4617720"/>
            <a:ext cx="5669280" cy="365760"/>
          </a:xfrm>
          <a:prstGeom prst="rect">
            <a:avLst/>
          </a:prstGeom>
          <a:noFill/>
          <a:ln/>
        </p:spPr>
        <p:txBody>
          <a:bodyPr wrap="square" lIns="0" tIns="0" rIns="0" bIns="0" rtlCol="0" anchor="ctr"/>
          <a:lstStyle/>
          <a:p>
            <a:pPr indent="0" marL="0">
              <a:buNone/>
            </a:pPr>
            <a:r>
              <a:rPr lang="en-US" sz="1700" b="1" dirty="0">
                <a:solidFill>
                  <a:srgbClr val="4B1D3F"/>
                </a:solidFill>
              </a:rPr>
              <a:t>Growth is moving upmarket</a:t>
            </a:r>
            <a:endParaRPr lang="en-US" sz="1700" dirty="0"/>
          </a:p>
        </p:txBody>
      </p:sp>
      <p:sp>
        <p:nvSpPr>
          <p:cNvPr id="18" name="Text 16"/>
          <p:cNvSpPr txBox="1"/>
          <p:nvPr/>
        </p:nvSpPr>
        <p:spPr>
          <a:xfrm>
            <a:off x="1325880" y="4983480"/>
            <a:ext cx="5669280" cy="640080"/>
          </a:xfrm>
          <a:prstGeom prst="rect">
            <a:avLst/>
          </a:prstGeom>
          <a:noFill/>
          <a:ln/>
        </p:spPr>
        <p:txBody>
          <a:bodyPr wrap="square" lIns="0" tIns="0" rIns="0" bIns="0" rtlCol="0" anchor="t"/>
          <a:lstStyle/>
          <a:p>
            <a:pPr indent="0" marL="0">
              <a:buNone/>
            </a:pPr>
            <a:r>
              <a:rPr lang="en-US" sz="1400" dirty="0">
                <a:solidFill>
                  <a:srgbClr val="1E1B24"/>
                </a:solidFill>
              </a:rPr>
              <a:t>101+ employees = 57% of ARR and growing fastest, but lead→win falls to 4.6% and 2.4%.</a:t>
            </a:r>
            <a:endParaRPr lang="en-US" sz="1400" dirty="0"/>
          </a:p>
        </p:txBody>
      </p:sp>
      <p:sp>
        <p:nvSpPr>
          <p:cNvPr id="19" name="Recommendation panel"/>
          <p:cNvSpPr/>
          <p:nvPr/>
        </p:nvSpPr>
        <p:spPr>
          <a:xfrm>
            <a:off x="7406640" y="1737360"/>
            <a:ext cx="4325112" cy="3931920"/>
          </a:xfrm>
          <a:prstGeom prst="rect">
            <a:avLst/>
          </a:prstGeom>
          <a:solidFill>
            <a:srgbClr val="4B1D3F"/>
          </a:solidFill>
          <a:ln w="12700">
            <a:solidFill>
              <a:srgbClr val="4B1D3F"/>
            </a:solidFill>
            <a:prstDash val="solid"/>
          </a:ln>
        </p:spPr>
      </p:sp>
      <p:sp>
        <p:nvSpPr>
          <p:cNvPr id="20" name="Text 18"/>
          <p:cNvSpPr txBox="1"/>
          <p:nvPr/>
        </p:nvSpPr>
        <p:spPr>
          <a:xfrm>
            <a:off x="7680960" y="1874520"/>
            <a:ext cx="3840480" cy="365760"/>
          </a:xfrm>
          <a:prstGeom prst="rect">
            <a:avLst/>
          </a:prstGeom>
          <a:noFill/>
          <a:ln/>
        </p:spPr>
        <p:txBody>
          <a:bodyPr wrap="square" lIns="0" tIns="0" rIns="0" bIns="0" rtlCol="0" anchor="ctr"/>
          <a:lstStyle/>
          <a:p>
            <a:pPr indent="0" marL="0">
              <a:buNone/>
            </a:pPr>
            <a:r>
              <a:rPr lang="en-US" sz="1700" b="1" dirty="0">
                <a:solidFill>
                  <a:srgbClr val="FFFFFF"/>
                </a:solidFill>
              </a:rPr>
              <a:t>Recommendation</a:t>
            </a:r>
            <a:endParaRPr lang="en-US" sz="1700" dirty="0"/>
          </a:p>
        </p:txBody>
      </p:sp>
      <p:sp>
        <p:nvSpPr>
          <p:cNvPr id="21" name="Text 19"/>
          <p:cNvSpPr txBox="1"/>
          <p:nvPr/>
        </p:nvSpPr>
        <p:spPr>
          <a:xfrm>
            <a:off x="7680960" y="2286000"/>
            <a:ext cx="384048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rPr>
              <a:t>Four segments, three motions: Velocity 1–50, Mid-Market 51–100 and 101–500, Enterprise 501+</a:t>
            </a:r>
            <a:endParaRPr lang="en-US" sz="1400" dirty="0"/>
          </a:p>
          <a:p>
            <a:pPr marL="342900" indent="-342900">
              <a:spcAft>
                <a:spcPts val="800"/>
              </a:spcAft>
              <a:buSzPct val="100000"/>
              <a:buChar char="•"/>
            </a:pPr>
            <a:r>
              <a:rPr lang="en-US" sz="1400" dirty="0">
                <a:solidFill>
                  <a:srgbClr val="FFFFFF"/>
                </a:solidFill>
              </a:rPr>
              <a:t>49 roles of required capacity: 13 SDR, 27 AE, 9 SC. Hire only the gap to current headcount</a:t>
            </a:r>
            <a:endParaRPr lang="en-US" sz="1400" dirty="0"/>
          </a:p>
          <a:p>
            <a:pPr marL="342900" indent="-342900">
              <a:spcAft>
                <a:spcPts val="800"/>
              </a:spcAft>
              <a:buSzPct val="100000"/>
              <a:buChar char="•"/>
            </a:pPr>
            <a:r>
              <a:rPr lang="en-US" sz="1400" dirty="0">
                <a:solidFill>
                  <a:srgbClr val="FFFFFF"/>
                </a:solidFill>
              </a:rPr>
              <a:t>Diagnose and fix lead→demo before buying more pipeline</a:t>
            </a:r>
            <a:endParaRPr lang="en-US" sz="1400" dirty="0"/>
          </a:p>
          <a:p>
            <a:pPr marL="342900" indent="-342900">
              <a:spcAft>
                <a:spcPts val="800"/>
              </a:spcAft>
              <a:buSzPct val="100000"/>
              <a:buChar char="•"/>
            </a:pPr>
            <a:r>
              <a:rPr lang="en-US" sz="1400" dirty="0">
                <a:solidFill>
                  <a:srgbClr val="FFFFFF"/>
                </a:solidFill>
              </a:rPr>
              <a:t>SC support upmarket; hold Enterprise expansion until win rates improve</a:t>
            </a:r>
            <a:endParaRPr lang="en-US" sz="1400" dirty="0"/>
          </a:p>
        </p:txBody>
      </p:sp>
      <p:sp>
        <p:nvSpPr>
          <p:cNvPr id="22"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Source: case dataset (fictional), Feb-2021 to Jan-2022. Rates use summed numerators and denominators; same-month ratios, not cohorts.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Leads grew 27%, but a smaller share reached a demo: a potential top-of-funnel bottleneck</a:t>
            </a:r>
            <a:endParaRPr lang="en-US" sz="2600" dirty="0"/>
          </a:p>
        </p:txBody>
      </p:sp>
      <p:sp>
        <p:nvSpPr>
          <p:cNvPr id="3" name="Subtitle"/>
          <p:cNvSpPr txBox="1"/>
          <p:nvPr/>
        </p:nvSpPr>
        <p:spPr>
          <a:xfrm>
            <a:off x="457200" y="1097280"/>
            <a:ext cx="11274552" cy="365760"/>
          </a:xfrm>
          <a:prstGeom prst="rect">
            <a:avLst/>
          </a:prstGeom>
          <a:noFill/>
          <a:ln/>
        </p:spPr>
        <p:txBody>
          <a:bodyPr wrap="square" lIns="0" tIns="0" rIns="0" bIns="0" rtlCol="0" anchor="ctr"/>
          <a:lstStyle/>
          <a:p>
            <a:pPr indent="0" marL="0">
              <a:buNone/>
            </a:pPr>
            <a:r>
              <a:rPr lang="en-US" sz="1500" dirty="0">
                <a:solidFill>
                  <a:srgbClr val="6B6470"/>
                </a:solidFill>
              </a:rPr>
              <a:t>Monthly leads vs demos, all segments. Demos did not keep pace as lead volume climbed.</a:t>
            </a:r>
            <a:endParaRPr lang="en-US" sz="1500" dirty="0"/>
          </a:p>
        </p:txBody>
      </p:sp>
      <p:graphicFrame>
        <p:nvGraphicFramePr>
          <p:cNvPr id="4" name="Leads vs demos chart" descr=""/>
          <p:cNvGraphicFramePr/>
          <p:nvPr/>
        </p:nvGraphicFramePr>
        <p:xfrm>
          <a:off x="457200" y="155448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989320"/>
            <a:ext cx="6400800" cy="274320"/>
          </a:xfrm>
          <a:prstGeom prst="rect">
            <a:avLst/>
          </a:prstGeom>
          <a:noFill/>
          <a:ln/>
        </p:spPr>
        <p:txBody>
          <a:bodyPr wrap="square" lIns="0" tIns="0" rIns="0" bIns="0" rtlCol="0" anchor="ctr"/>
          <a:lstStyle/>
          <a:p>
            <a:pPr indent="0" marL="0">
              <a:buNone/>
            </a:pPr>
            <a:r>
              <a:rPr lang="en-US" sz="1100" i="1" dirty="0">
                <a:solidFill>
                  <a:srgbClr val="6B6470"/>
                </a:solidFill>
              </a:rPr>
              <a:t>Nov–Dec dip seen once; not treated as confirmed seasonality</a:t>
            </a:r>
            <a:endParaRPr lang="en-US" sz="1100" dirty="0"/>
          </a:p>
        </p:txBody>
      </p:sp>
      <p:sp>
        <p:nvSpPr>
          <p:cNvPr id="6" name="Text 3"/>
          <p:cNvSpPr txBox="1"/>
          <p:nvPr/>
        </p:nvSpPr>
        <p:spPr>
          <a:xfrm>
            <a:off x="7315200" y="1554480"/>
            <a:ext cx="4416552" cy="320040"/>
          </a:xfrm>
          <a:prstGeom prst="rect">
            <a:avLst/>
          </a:prstGeom>
          <a:noFill/>
          <a:ln/>
        </p:spPr>
        <p:txBody>
          <a:bodyPr wrap="square" lIns="0" tIns="0" rIns="0" bIns="0" rtlCol="0" anchor="ctr"/>
          <a:lstStyle/>
          <a:p>
            <a:pPr indent="0" marL="0">
              <a:buNone/>
            </a:pPr>
            <a:r>
              <a:rPr lang="en-US" sz="1400" b="1" dirty="0">
                <a:solidFill>
                  <a:srgbClr val="1E1B24"/>
                </a:solidFill>
              </a:rPr>
              <a:t>Average month: Feb–Jul vs Aug–Oct 2021</a:t>
            </a:r>
            <a:endParaRPr lang="en-US" sz="1400" dirty="0"/>
          </a:p>
        </p:txBody>
      </p:sp>
      <p:graphicFrame>
        <p:nvGraphicFramePr>
          <p:cNvPr id="4" name="Stage table"/>
          <p:cNvGraphicFramePr>
            <a:graphicFrameLocks noGrp="1"/>
          </p:cNvGraphicFramePr>
          <p:nvPr>
            <p:extLst>
              <p:ext uri="{D42A27DB-BD31-4B8C-83A1-F6EECF244321}">
                <p14:modId xmlns:p14="http://schemas.microsoft.com/office/powerpoint/2010/main" val="1579011935"/>
              </p:ext>
            </p:extLst>
          </p:nvPr>
        </p:nvGraphicFramePr>
        <p:xfrm>
          <a:off x="7315200" y="1920240"/>
          <a:ext cx="4416552" cy="914400"/>
        </p:xfrm>
        <a:graphic>
          <a:graphicData uri="http://schemas.openxmlformats.org/drawingml/2006/table">
            <a:tbl>
              <a:tblPr/>
              <a:tblGrid>
                <a:gridCol w="1399032"/>
                <a:gridCol w="1005840"/>
                <a:gridCol w="1005840"/>
                <a:gridCol w="1005840"/>
              </a:tblGrid>
              <a:tr h="347472">
                <a:tc>
                  <a:txBody>
                    <a:bodyPr/>
                    <a:lstStyle/>
                    <a:p>
                      <a:pPr algn="ctr" indent="0" marL="0">
                        <a:buNone/>
                      </a:pPr>
                      <a:r>
                        <a:rPr lang="en-US" sz="1300" b="1" dirty="0">
                          <a:solidFill>
                            <a:srgbClr val="FFFFFF"/>
                          </a:solidFill>
                        </a:rPr>
                        <a:t>Stage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Feb–Jul</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Aug–Oct</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Rel. change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347472">
                <a:tc>
                  <a:txBody>
                    <a:bodyPr/>
                    <a:lstStyle/>
                    <a:p>
                      <a:pPr algn="ctr" indent="0" marL="0">
                        <a:buNone/>
                      </a:pPr>
                      <a:r>
                        <a:rPr lang="en-US" sz="1300" dirty="0">
                          <a:solidFill>
                            <a:srgbClr val="1E1B24"/>
                          </a:solidFill>
                        </a:rPr>
                        <a:t>Lead → demo</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31.2%</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28.2%</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B23A48"/>
                          </a:solidFill>
                        </a:rPr>
                        <a:t>-10%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47472">
                <a:tc>
                  <a:txBody>
                    <a:bodyPr/>
                    <a:lstStyle/>
                    <a:p>
                      <a:pPr algn="ctr" indent="0" marL="0">
                        <a:buNone/>
                      </a:pPr>
                      <a:r>
                        <a:rPr lang="en-US" sz="1300" dirty="0">
                          <a:solidFill>
                            <a:srgbClr val="1E1B24"/>
                          </a:solidFill>
                        </a:rPr>
                        <a:t>Demo → opp</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74.8%</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73.8%</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47472">
                <a:tc>
                  <a:txBody>
                    <a:bodyPr/>
                    <a:lstStyle/>
                    <a:p>
                      <a:pPr algn="ctr" indent="0" marL="0">
                        <a:buNone/>
                      </a:pPr>
                      <a:r>
                        <a:rPr lang="en-US" sz="1300" dirty="0">
                          <a:solidFill>
                            <a:srgbClr val="1E1B24"/>
                          </a:solidFill>
                        </a:rPr>
                        <a:t>Opp → win</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30.4%</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29.4%</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8" name="Text 4"/>
          <p:cNvSpPr txBox="1"/>
          <p:nvPr/>
        </p:nvSpPr>
        <p:spPr>
          <a:xfrm>
            <a:off x="7315200" y="3520440"/>
            <a:ext cx="4416552" cy="320040"/>
          </a:xfrm>
          <a:prstGeom prst="rect">
            <a:avLst/>
          </a:prstGeom>
          <a:noFill/>
          <a:ln/>
        </p:spPr>
        <p:txBody>
          <a:bodyPr wrap="square" lIns="0" tIns="0" rIns="0" bIns="0" rtlCol="0" anchor="ctr"/>
          <a:lstStyle/>
          <a:p>
            <a:pPr indent="0" marL="0">
              <a:buNone/>
            </a:pPr>
            <a:r>
              <a:rPr lang="en-US" sz="1400" b="1" dirty="0">
                <a:solidFill>
                  <a:srgbClr val="1E1B24"/>
                </a:solidFill>
              </a:rPr>
              <a:t>Lead→demo change by segment</a:t>
            </a:r>
            <a:endParaRPr lang="en-US" sz="1400" dirty="0"/>
          </a:p>
        </p:txBody>
      </p:sp>
      <p:graphicFrame>
        <p:nvGraphicFramePr>
          <p:cNvPr id="7" name="Segment L2D table"/>
          <p:cNvGraphicFramePr>
            <a:graphicFrameLocks noGrp="1"/>
          </p:cNvGraphicFramePr>
          <p:nvPr>
            <p:extLst>
              <p:ext uri="{D42A27DB-BD31-4B8C-83A1-F6EECF244321}">
                <p14:modId xmlns:p14="http://schemas.microsoft.com/office/powerpoint/2010/main" val="1579011935"/>
              </p:ext>
            </p:extLst>
          </p:nvPr>
        </p:nvGraphicFramePr>
        <p:xfrm>
          <a:off x="7315200" y="3886200"/>
          <a:ext cx="4416552" cy="914400"/>
        </p:xfrm>
        <a:graphic>
          <a:graphicData uri="http://schemas.openxmlformats.org/drawingml/2006/table">
            <a:tbl>
              <a:tblPr/>
              <a:tblGrid>
                <a:gridCol w="1104138"/>
                <a:gridCol w="1104138"/>
                <a:gridCol w="1104138"/>
                <a:gridCol w="1104138"/>
              </a:tblGrid>
              <a:tr h="347472">
                <a:tc>
                  <a:txBody>
                    <a:bodyPr/>
                    <a:lstStyle/>
                    <a:p>
                      <a:pPr algn="ctr" indent="0" marL="0">
                        <a:buNone/>
                      </a:pPr>
                      <a:r>
                        <a:rPr lang="en-US" sz="1300" b="1" dirty="0">
                          <a:solidFill>
                            <a:srgbClr val="FFFFFF"/>
                          </a:solidFill>
                        </a:rPr>
                        <a:t>1–50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51–100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101–500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501+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347472">
                <a:tc>
                  <a:txBody>
                    <a:bodyPr/>
                    <a:lstStyle/>
                    <a:p>
                      <a:pPr algn="ctr" indent="0" marL="0">
                        <a:buNone/>
                      </a:pPr>
                      <a:r>
                        <a:rPr lang="en-US" sz="1300" b="1" dirty="0">
                          <a:solidFill>
                            <a:srgbClr val="B23A48"/>
                          </a:solidFill>
                        </a:rPr>
                        <a:t>−3.5 pts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B23A48"/>
                          </a:solidFill>
                        </a:rPr>
                        <a:t>−3.7 pts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−1.8 pts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−0.4 pts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10" name="Hypotheses card"/>
          <p:cNvSpPr/>
          <p:nvPr/>
        </p:nvSpPr>
        <p:spPr>
          <a:xfrm>
            <a:off x="7315200" y="4754880"/>
            <a:ext cx="4416552" cy="1417320"/>
          </a:xfrm>
          <a:prstGeom prst="rect">
            <a:avLst/>
          </a:prstGeom>
          <a:solidFill>
            <a:srgbClr val="F3EFF2"/>
          </a:solidFill>
          <a:ln w="12700">
            <a:solidFill>
              <a:srgbClr val="F3EFF2"/>
            </a:solidFill>
            <a:prstDash val="solid"/>
          </a:ln>
        </p:spPr>
      </p:sp>
      <p:sp>
        <p:nvSpPr>
          <p:cNvPr id="11" name="Text 6"/>
          <p:cNvSpPr txBox="1"/>
          <p:nvPr/>
        </p:nvSpPr>
        <p:spPr>
          <a:xfrm>
            <a:off x="7498080" y="4846320"/>
            <a:ext cx="4069080" cy="1234440"/>
          </a:xfrm>
          <a:prstGeom prst="rect">
            <a:avLst/>
          </a:prstGeom>
          <a:noFill/>
          <a:ln/>
        </p:spPr>
        <p:txBody>
          <a:bodyPr wrap="square" lIns="0" tIns="0" rIns="0" bIns="0" rtlCol="0" anchor="ctr"/>
          <a:lstStyle/>
          <a:p>
            <a:pPr indent="0" marL="0">
              <a:spcAft>
                <a:spcPts val="600"/>
              </a:spcAft>
              <a:buNone/>
            </a:pPr>
            <a:r>
              <a:rPr lang="en-US" sz="1400" b="1" dirty="0">
                <a:solidFill>
                  <a:srgbClr val="4B1D3F"/>
                </a:solidFill>
              </a:rPr>
              <a:t>Causes to test before investing</a:t>
            </a:r>
            <a:endParaRPr lang="en-US" sz="1400" dirty="0"/>
          </a:p>
          <a:p>
            <a:pPr indent="0" marL="0">
              <a:spcAft>
                <a:spcPts val="600"/>
              </a:spcAft>
              <a:buNone/>
            </a:pPr>
            <a:r>
              <a:rPr lang="en-US" sz="1400" dirty="0">
                <a:solidFill>
                  <a:srgbClr val="1E1B24"/>
                </a:solidFill>
              </a:rPr>
              <a:t>SDR capacity  ·  speed-to-lead  ·  lead quality  ·  demo scheduling</a:t>
            </a:r>
            <a:endParaRPr lang="en-US" sz="1400" dirty="0"/>
          </a:p>
        </p:txBody>
      </p:sp>
      <p:sp>
        <p:nvSpPr>
          <p:cNvPr id="12"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Source: case dataset (fictional), Feb-2021 to Jan-2022. Rates use summed numerators and denominators; same-month ratios, not cohorts.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51–100 delivers the highest observed ARR per lead: it converts like SMB at more than double the deal size</a:t>
            </a:r>
            <a:endParaRPr lang="en-US" sz="2600" dirty="0"/>
          </a:p>
        </p:txBody>
      </p:sp>
      <p:sp>
        <p:nvSpPr>
          <p:cNvPr id="3" name="Subtitle"/>
          <p:cNvSpPr txBox="1"/>
          <p:nvPr/>
        </p:nvSpPr>
        <p:spPr>
          <a:xfrm>
            <a:off x="457200" y="1097280"/>
            <a:ext cx="11274552" cy="365760"/>
          </a:xfrm>
          <a:prstGeom prst="rect">
            <a:avLst/>
          </a:prstGeom>
          <a:noFill/>
          <a:ln/>
        </p:spPr>
        <p:txBody>
          <a:bodyPr wrap="square" lIns="0" tIns="0" rIns="0" bIns="0" rtlCol="0" anchor="ctr"/>
          <a:lstStyle/>
          <a:p>
            <a:pPr indent="0" marL="0">
              <a:buNone/>
            </a:pPr>
            <a:r>
              <a:rPr lang="en-US" sz="1500" dirty="0">
                <a:solidFill>
                  <a:srgbClr val="6B6470"/>
                </a:solidFill>
              </a:rPr>
              <a:t>12-month ARR per lead by segment (ARR ÷ high-intent leads)</a:t>
            </a:r>
            <a:endParaRPr lang="en-US" sz="1500" dirty="0"/>
          </a:p>
        </p:txBody>
      </p:sp>
      <p:graphicFrame>
        <p:nvGraphicFramePr>
          <p:cNvPr id="4" name="ARR per lead chart" descr=""/>
          <p:cNvGraphicFramePr/>
          <p:nvPr/>
        </p:nvGraphicFramePr>
        <p:xfrm>
          <a:off x="457200" y="155448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0" y="1645920"/>
            <a:ext cx="4389120" cy="548640"/>
          </a:xfrm>
          <a:prstGeom prst="rect">
            <a:avLst/>
          </a:prstGeom>
          <a:noFill/>
          <a:ln/>
        </p:spPr>
        <p:txBody>
          <a:bodyPr wrap="square" lIns="0" tIns="0" rIns="0" bIns="0" rtlCol="0" anchor="ctr"/>
          <a:lstStyle/>
          <a:p>
            <a:pPr indent="0" marL="0">
              <a:buNone/>
            </a:pPr>
            <a:r>
              <a:rPr lang="en-US" sz="3000" b="1" dirty="0">
                <a:solidFill>
                  <a:srgbClr val="4B1D3F"/>
                </a:solidFill>
              </a:rPr>
              <a:t>9.6% vs 10.0%</a:t>
            </a:r>
            <a:endParaRPr lang="en-US" sz="3000" dirty="0"/>
          </a:p>
        </p:txBody>
      </p:sp>
      <p:sp>
        <p:nvSpPr>
          <p:cNvPr id="6" name="Text 3"/>
          <p:cNvSpPr txBox="1"/>
          <p:nvPr/>
        </p:nvSpPr>
        <p:spPr>
          <a:xfrm>
            <a:off x="7315200" y="2212848"/>
            <a:ext cx="4389120" cy="548640"/>
          </a:xfrm>
          <a:prstGeom prst="rect">
            <a:avLst/>
          </a:prstGeom>
          <a:noFill/>
          <a:ln/>
        </p:spPr>
        <p:txBody>
          <a:bodyPr wrap="square" lIns="0" tIns="0" rIns="0" bIns="0" rtlCol="0" anchor="t"/>
          <a:lstStyle/>
          <a:p>
            <a:pPr indent="0" marL="0">
              <a:buNone/>
            </a:pPr>
            <a:r>
              <a:rPr lang="en-US" sz="1300" dirty="0">
                <a:solidFill>
                  <a:srgbClr val="1E1B24"/>
                </a:solidFill>
              </a:rPr>
              <a:t>Lead→win for 51–100 vs 1–50: essentially the same conversion</a:t>
            </a:r>
            <a:endParaRPr lang="en-US" sz="1300" dirty="0"/>
          </a:p>
        </p:txBody>
      </p:sp>
      <p:sp>
        <p:nvSpPr>
          <p:cNvPr id="7" name="Text 4"/>
          <p:cNvSpPr txBox="1"/>
          <p:nvPr/>
        </p:nvSpPr>
        <p:spPr>
          <a:xfrm>
            <a:off x="7315200" y="2880360"/>
            <a:ext cx="4389120" cy="548640"/>
          </a:xfrm>
          <a:prstGeom prst="rect">
            <a:avLst/>
          </a:prstGeom>
          <a:noFill/>
          <a:ln/>
        </p:spPr>
        <p:txBody>
          <a:bodyPr wrap="square" lIns="0" tIns="0" rIns="0" bIns="0" rtlCol="0" anchor="ctr"/>
          <a:lstStyle/>
          <a:p>
            <a:pPr indent="0" marL="0">
              <a:buNone/>
            </a:pPr>
            <a:r>
              <a:rPr lang="en-US" sz="3000" b="1" dirty="0">
                <a:solidFill>
                  <a:srgbClr val="4B1D3F"/>
                </a:solidFill>
              </a:rPr>
              <a:t>$9.3K vs $3.7K</a:t>
            </a:r>
            <a:endParaRPr lang="en-US" sz="3000" dirty="0"/>
          </a:p>
        </p:txBody>
      </p:sp>
      <p:sp>
        <p:nvSpPr>
          <p:cNvPr id="8" name="Text 5"/>
          <p:cNvSpPr txBox="1"/>
          <p:nvPr/>
        </p:nvSpPr>
        <p:spPr>
          <a:xfrm>
            <a:off x="7315200" y="3447288"/>
            <a:ext cx="4389120" cy="548640"/>
          </a:xfrm>
          <a:prstGeom prst="rect">
            <a:avLst/>
          </a:prstGeom>
          <a:noFill/>
          <a:ln/>
        </p:spPr>
        <p:txBody>
          <a:bodyPr wrap="square" lIns="0" tIns="0" rIns="0" bIns="0" rtlCol="0" anchor="t"/>
          <a:lstStyle/>
          <a:p>
            <a:pPr indent="0" marL="0">
              <a:buNone/>
            </a:pPr>
            <a:r>
              <a:rPr lang="en-US" sz="1300" dirty="0">
                <a:solidFill>
                  <a:srgbClr val="1E1B24"/>
                </a:solidFill>
              </a:rPr>
              <a:t>ARR per logo: 2.5× larger deals, with the same 3.7 demos per logo</a:t>
            </a:r>
            <a:endParaRPr lang="en-US" sz="1300" dirty="0"/>
          </a:p>
        </p:txBody>
      </p:sp>
      <p:sp>
        <p:nvSpPr>
          <p:cNvPr id="9" name="Text 6"/>
          <p:cNvSpPr txBox="1"/>
          <p:nvPr/>
        </p:nvSpPr>
        <p:spPr>
          <a:xfrm>
            <a:off x="7315200" y="4114800"/>
            <a:ext cx="4389120" cy="548640"/>
          </a:xfrm>
          <a:prstGeom prst="rect">
            <a:avLst/>
          </a:prstGeom>
          <a:noFill/>
          <a:ln/>
        </p:spPr>
        <p:txBody>
          <a:bodyPr wrap="square" lIns="0" tIns="0" rIns="0" bIns="0" rtlCol="0" anchor="ctr"/>
          <a:lstStyle/>
          <a:p>
            <a:pPr indent="0" marL="0">
              <a:buNone/>
            </a:pPr>
            <a:r>
              <a:rPr lang="en-US" sz="3000" b="1" dirty="0">
                <a:solidFill>
                  <a:srgbClr val="B23A48"/>
                </a:solidFill>
              </a:rPr>
              <a:t>−3.7 pts</a:t>
            </a:r>
            <a:endParaRPr lang="en-US" sz="3000" dirty="0"/>
          </a:p>
        </p:txBody>
      </p:sp>
      <p:sp>
        <p:nvSpPr>
          <p:cNvPr id="10" name="Text 7"/>
          <p:cNvSpPr txBox="1"/>
          <p:nvPr/>
        </p:nvSpPr>
        <p:spPr>
          <a:xfrm>
            <a:off x="7315200" y="4681728"/>
            <a:ext cx="4389120" cy="548640"/>
          </a:xfrm>
          <a:prstGeom prst="rect">
            <a:avLst/>
          </a:prstGeom>
          <a:noFill/>
          <a:ln/>
        </p:spPr>
        <p:txBody>
          <a:bodyPr wrap="square" lIns="0" tIns="0" rIns="0" bIns="0" rtlCol="0" anchor="t"/>
          <a:lstStyle/>
          <a:p>
            <a:pPr indent="0" marL="0">
              <a:buNone/>
            </a:pPr>
            <a:r>
              <a:rPr lang="en-US" sz="1300" dirty="0">
                <a:solidFill>
                  <a:srgbClr val="1E1B24"/>
                </a:solidFill>
              </a:rPr>
              <a:t>Lead→demo change, the largest slip of any segment</a:t>
            </a:r>
            <a:endParaRPr lang="en-US" sz="1300" dirty="0"/>
          </a:p>
        </p:txBody>
      </p:sp>
      <p:sp>
        <p:nvSpPr>
          <p:cNvPr id="11" name="Yield caveat"/>
          <p:cNvSpPr/>
          <p:nvPr/>
        </p:nvSpPr>
        <p:spPr>
          <a:xfrm>
            <a:off x="7315200" y="5349240"/>
            <a:ext cx="4416552" cy="822960"/>
          </a:xfrm>
          <a:prstGeom prst="rect">
            <a:avLst/>
          </a:prstGeom>
          <a:solidFill>
            <a:srgbClr val="F3EFF2"/>
          </a:solidFill>
          <a:ln w="12700">
            <a:solidFill>
              <a:srgbClr val="F3EFF2"/>
            </a:solidFill>
            <a:prstDash val="solid"/>
          </a:ln>
        </p:spPr>
      </p:sp>
      <p:sp>
        <p:nvSpPr>
          <p:cNvPr id="12" name="Text 9"/>
          <p:cNvSpPr txBox="1"/>
          <p:nvPr/>
        </p:nvSpPr>
        <p:spPr>
          <a:xfrm>
            <a:off x="7452360" y="5394960"/>
            <a:ext cx="4160520" cy="731520"/>
          </a:xfrm>
          <a:prstGeom prst="rect">
            <a:avLst/>
          </a:prstGeom>
          <a:noFill/>
          <a:ln/>
        </p:spPr>
        <p:txBody>
          <a:bodyPr wrap="square" lIns="0" tIns="0" rIns="0" bIns="0" rtlCol="0" anchor="ctr"/>
          <a:lstStyle/>
          <a:p>
            <a:pPr indent="0" marL="0">
              <a:buNone/>
            </a:pPr>
            <a:r>
              <a:rPr lang="en-US" sz="1200" dirty="0">
                <a:solidFill>
                  <a:srgbClr val="1E1B24"/>
                </a:solidFill>
              </a:rPr>
              <a:t>Revenue yield, not proven ROI: the dataset has no cost data. It is the clearest place to protect lead coverage.</a:t>
            </a:r>
            <a:endParaRPr lang="en-US" sz="1200" dirty="0"/>
          </a:p>
        </p:txBody>
      </p:sp>
      <p:sp>
        <p:nvSpPr>
          <p:cNvPr id="13"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Source: case dataset (fictional), Feb-2021 to Jan-2022. Rates use summed numerators and denominators; same-month ratios, not cohorts.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Growth is shifting upmarket, where conversion halves and each deal needs more support</a:t>
            </a:r>
            <a:endParaRPr lang="en-US" sz="2600" dirty="0"/>
          </a:p>
        </p:txBody>
      </p:sp>
      <p:sp>
        <p:nvSpPr>
          <p:cNvPr id="3" name="Subtitle"/>
          <p:cNvSpPr txBox="1"/>
          <p:nvPr/>
        </p:nvSpPr>
        <p:spPr>
          <a:xfrm>
            <a:off x="457200" y="1097280"/>
            <a:ext cx="11274552" cy="365760"/>
          </a:xfrm>
          <a:prstGeom prst="rect">
            <a:avLst/>
          </a:prstGeom>
          <a:noFill/>
          <a:ln/>
        </p:spPr>
        <p:txBody>
          <a:bodyPr wrap="square" lIns="0" tIns="0" rIns="0" bIns="0" rtlCol="0" anchor="ctr"/>
          <a:lstStyle/>
          <a:p>
            <a:pPr indent="0" marL="0">
              <a:buNone/>
            </a:pPr>
            <a:r>
              <a:rPr lang="en-US" sz="1500" dirty="0">
                <a:solidFill>
                  <a:srgbClr val="6B6470"/>
                </a:solidFill>
              </a:rPr>
              <a:t>Change in average monthly new ARR, Feb–Jul to Aug–Oct 2021</a:t>
            </a:r>
            <a:endParaRPr lang="en-US" sz="1500" dirty="0"/>
          </a:p>
        </p:txBody>
      </p:sp>
      <p:graphicFrame>
        <p:nvGraphicFramePr>
          <p:cNvPr id="4" name="ARR growth chart" descr=""/>
          <p:cNvGraphicFramePr/>
          <p:nvPr/>
        </p:nvGraphicFramePr>
        <p:xfrm>
          <a:off x="457200" y="1554480"/>
          <a:ext cx="51206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Segment metrics table"/>
          <p:cNvGraphicFramePr>
            <a:graphicFrameLocks noGrp="1"/>
          </p:cNvGraphicFramePr>
          <p:nvPr>
            <p:extLst>
              <p:ext uri="{D42A27DB-BD31-4B8C-83A1-F6EECF244321}">
                <p14:modId xmlns:p14="http://schemas.microsoft.com/office/powerpoint/2010/main" val="1579011935"/>
              </p:ext>
            </p:extLst>
          </p:nvPr>
        </p:nvGraphicFramePr>
        <p:xfrm>
          <a:off x="5852160" y="1645920"/>
          <a:ext cx="5879592" cy="914400"/>
        </p:xfrm>
        <a:graphic>
          <a:graphicData uri="http://schemas.openxmlformats.org/drawingml/2006/table">
            <a:tbl>
              <a:tblPr/>
              <a:tblGrid>
                <a:gridCol w="1673352"/>
                <a:gridCol w="1051560"/>
                <a:gridCol w="1051560"/>
                <a:gridCol w="1051560"/>
                <a:gridCol w="1051560"/>
              </a:tblGrid>
              <a:tr h="384048">
                <a:tc>
                  <a:txBody>
                    <a:bodyPr/>
                    <a:lstStyle/>
                    <a:p>
                      <a:pPr algn="ctr" indent="0" marL="0">
                        <a:buNone/>
                      </a:pPr>
                      <a:r>
                        <a:rPr lang="en-US" sz="1300" b="1" dirty="0">
                          <a:solidFill>
                            <a:srgbClr val="FFFFFF"/>
                          </a:solidFill>
                        </a:rPr>
                        <a:t>12-month metric</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1–50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51–100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101–500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501+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384048">
                <a:tc>
                  <a:txBody>
                    <a:bodyPr/>
                    <a:lstStyle/>
                    <a:p>
                      <a:pPr algn="ctr" indent="0" marL="0">
                        <a:buNone/>
                      </a:pPr>
                      <a:r>
                        <a:rPr lang="en-US" sz="1300" dirty="0">
                          <a:solidFill>
                            <a:srgbClr val="1E1B24"/>
                          </a:solidFill>
                        </a:rPr>
                        <a:t>Share of ARR</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14%</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29%</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40%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18%</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300" dirty="0">
                          <a:solidFill>
                            <a:srgbClr val="1E1B24"/>
                          </a:solidFill>
                        </a:rPr>
                        <a:t>Lead → win</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9.6%</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4.6%</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2.4%</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300" dirty="0">
                          <a:solidFill>
                            <a:srgbClr val="1E1B24"/>
                          </a:solidFill>
                        </a:rPr>
                        <a:t>Demo → opp</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80%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80%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70%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65%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300" dirty="0">
                          <a:solidFill>
                            <a:srgbClr val="1E1B24"/>
                          </a:solidFill>
                        </a:rPr>
                        <a:t>Demos per logo</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3.7</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3.7</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5.6</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7.8</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300" dirty="0">
                          <a:solidFill>
                            <a:srgbClr val="1E1B24"/>
                          </a:solidFill>
                        </a:rPr>
                        <a:t>ARR per logo</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$3.7K</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$9.3K</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$12.5K</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$22.7K</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6" name="So-what card"/>
          <p:cNvSpPr/>
          <p:nvPr/>
        </p:nvSpPr>
        <p:spPr>
          <a:xfrm>
            <a:off x="5852160" y="4251960"/>
            <a:ext cx="5879592" cy="1920240"/>
          </a:xfrm>
          <a:prstGeom prst="rect">
            <a:avLst/>
          </a:prstGeom>
          <a:solidFill>
            <a:srgbClr val="F3EFF2"/>
          </a:solidFill>
          <a:ln w="12700">
            <a:solidFill>
              <a:srgbClr val="F3EFF2"/>
            </a:solidFill>
            <a:prstDash val="solid"/>
          </a:ln>
        </p:spPr>
      </p:sp>
      <p:sp>
        <p:nvSpPr>
          <p:cNvPr id="7" name="Text 3"/>
          <p:cNvSpPr txBox="1"/>
          <p:nvPr/>
        </p:nvSpPr>
        <p:spPr>
          <a:xfrm>
            <a:off x="6035040" y="4343400"/>
            <a:ext cx="5577840" cy="1783080"/>
          </a:xfrm>
          <a:prstGeom prst="rect">
            <a:avLst/>
          </a:prstGeom>
          <a:noFill/>
          <a:ln/>
        </p:spPr>
        <p:txBody>
          <a:bodyPr wrap="square" lIns="0" tIns="0" rIns="0" bIns="0" rtlCol="0" anchor="t"/>
          <a:lstStyle/>
          <a:p>
            <a:pPr indent="0" marL="0">
              <a:spcAft>
                <a:spcPts val="400"/>
              </a:spcAft>
              <a:buNone/>
            </a:pPr>
            <a:r>
              <a:rPr lang="en-US" sz="1300" b="1" dirty="0">
                <a:solidFill>
                  <a:srgbClr val="4B1D3F"/>
                </a:solidFill>
              </a:rPr>
              <a:t>So what</a:t>
            </a:r>
            <a:endParaRPr lang="en-US" sz="1300" dirty="0"/>
          </a:p>
          <a:p>
            <a:pPr marL="342900" indent="-342900">
              <a:spcAft>
                <a:spcPts val="400"/>
              </a:spcAft>
              <a:buSzPct val="100000"/>
              <a:buChar char="•"/>
            </a:pPr>
            <a:r>
              <a:rPr lang="en-US" sz="1300" dirty="0">
                <a:solidFill>
                  <a:srgbClr val="1E1B24"/>
                </a:solidFill>
              </a:rPr>
              <a:t>101+ employees produce 57% of ARR and their share of leads rose from 57% to 61%.</a:t>
            </a:r>
            <a:endParaRPr lang="en-US" sz="1300" dirty="0"/>
          </a:p>
          <a:p>
            <a:pPr marL="342900" indent="-342900">
              <a:spcAft>
                <a:spcPts val="400"/>
              </a:spcAft>
              <a:buSzPct val="100000"/>
              <a:buChar char="•"/>
            </a:pPr>
            <a:r>
              <a:rPr lang="en-US" sz="1300" dirty="0">
                <a:solidFill>
                  <a:srgbClr val="1E1B24"/>
                </a:solidFill>
              </a:rPr>
              <a:t>Lower conversion and 1.5–2× the demos per logo signal complex buying: this is where SCs earn their place.</a:t>
            </a:r>
            <a:endParaRPr lang="en-US" sz="1300" dirty="0"/>
          </a:p>
          <a:p>
            <a:pPr marL="342900" indent="-342900">
              <a:spcAft>
                <a:spcPts val="400"/>
              </a:spcAft>
              <a:buSzPct val="100000"/>
              <a:buChar char="•"/>
            </a:pPr>
            <a:r>
              <a:rPr lang="en-US" sz="1300" dirty="0">
                <a:solidFill>
                  <a:srgbClr val="1E1B24"/>
                </a:solidFill>
              </a:rPr>
              <a:t>1–10 is shrinking and low value: serve it with a low-touch motion, not more headcount.</a:t>
            </a:r>
            <a:endParaRPr lang="en-US" sz="1300" dirty="0"/>
          </a:p>
        </p:txBody>
      </p:sp>
      <p:sp>
        <p:nvSpPr>
          <p:cNvPr id="8"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Source: case dataset (fictional), Feb-2021 to Jan-2022. Rates use summed numerators and denominators; same-month ratios, not cohorts.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Four segments, run as three sales motions, with boundaries placed where the data changes</a:t>
            </a:r>
            <a:endParaRPr lang="en-US" sz="2600" dirty="0"/>
          </a:p>
        </p:txBody>
      </p:sp>
      <p:sp>
        <p:nvSpPr>
          <p:cNvPr id="3" name="Velocity motion"/>
          <p:cNvSpPr/>
          <p:nvPr/>
        </p:nvSpPr>
        <p:spPr>
          <a:xfrm>
            <a:off x="457200" y="1234440"/>
            <a:ext cx="2697480" cy="411480"/>
          </a:xfrm>
          <a:prstGeom prst="rect">
            <a:avLst/>
          </a:prstGeom>
          <a:solidFill>
            <a:srgbClr val="4B1D3F"/>
          </a:solidFill>
          <a:ln w="12700">
            <a:solidFill>
              <a:srgbClr val="4B1D3F"/>
            </a:solidFill>
            <a:prstDash val="solid"/>
          </a:ln>
        </p:spPr>
      </p:sp>
      <p:sp>
        <p:nvSpPr>
          <p:cNvPr id="4" name="Text 2"/>
          <p:cNvSpPr txBox="1"/>
          <p:nvPr/>
        </p:nvSpPr>
        <p:spPr>
          <a:xfrm>
            <a:off x="457200" y="1234440"/>
            <a:ext cx="2697480" cy="411480"/>
          </a:xfrm>
          <a:prstGeom prst="rect">
            <a:avLst/>
          </a:prstGeom>
          <a:noFill/>
          <a:ln/>
        </p:spPr>
        <p:txBody>
          <a:bodyPr wrap="square" lIns="0" tIns="0" rIns="0" bIns="0" rtlCol="0" anchor="ctr"/>
          <a:lstStyle/>
          <a:p>
            <a:pPr algn="ctr" indent="0" marL="0">
              <a:buNone/>
            </a:pPr>
            <a:r>
              <a:rPr lang="en-US" sz="1400" b="1" dirty="0">
                <a:solidFill>
                  <a:srgbClr val="FFFFFF"/>
                </a:solidFill>
              </a:rPr>
              <a:t>Velocity motion</a:t>
            </a:r>
            <a:endParaRPr lang="en-US" sz="1400" dirty="0"/>
          </a:p>
        </p:txBody>
      </p:sp>
      <p:sp>
        <p:nvSpPr>
          <p:cNvPr id="5" name="Mid-Market motion"/>
          <p:cNvSpPr/>
          <p:nvPr/>
        </p:nvSpPr>
        <p:spPr>
          <a:xfrm>
            <a:off x="3291840" y="1234440"/>
            <a:ext cx="5532120" cy="411480"/>
          </a:xfrm>
          <a:prstGeom prst="rect">
            <a:avLst/>
          </a:prstGeom>
          <a:solidFill>
            <a:srgbClr val="4B1D3F"/>
          </a:solidFill>
          <a:ln w="12700">
            <a:solidFill>
              <a:srgbClr val="4B1D3F"/>
            </a:solidFill>
            <a:prstDash val="solid"/>
          </a:ln>
        </p:spPr>
      </p:sp>
      <p:sp>
        <p:nvSpPr>
          <p:cNvPr id="6" name="Text 4"/>
          <p:cNvSpPr txBox="1"/>
          <p:nvPr/>
        </p:nvSpPr>
        <p:spPr>
          <a:xfrm>
            <a:off x="3291840" y="1234440"/>
            <a:ext cx="5532120" cy="411480"/>
          </a:xfrm>
          <a:prstGeom prst="rect">
            <a:avLst/>
          </a:prstGeom>
          <a:noFill/>
          <a:ln/>
        </p:spPr>
        <p:txBody>
          <a:bodyPr wrap="square" lIns="0" tIns="0" rIns="0" bIns="0" rtlCol="0" anchor="ctr"/>
          <a:lstStyle/>
          <a:p>
            <a:pPr algn="ctr" indent="0" marL="0">
              <a:buNone/>
            </a:pPr>
            <a:r>
              <a:rPr lang="en-US" sz="1400" b="1" dirty="0">
                <a:solidFill>
                  <a:srgbClr val="FFFFFF"/>
                </a:solidFill>
              </a:rPr>
              <a:t>Mid-Market motion</a:t>
            </a:r>
            <a:endParaRPr lang="en-US" sz="1400" dirty="0"/>
          </a:p>
        </p:txBody>
      </p:sp>
      <p:sp>
        <p:nvSpPr>
          <p:cNvPr id="7" name="Enterprise motion"/>
          <p:cNvSpPr/>
          <p:nvPr/>
        </p:nvSpPr>
        <p:spPr>
          <a:xfrm>
            <a:off x="8961120" y="1234440"/>
            <a:ext cx="2697480" cy="411480"/>
          </a:xfrm>
          <a:prstGeom prst="rect">
            <a:avLst/>
          </a:prstGeom>
          <a:solidFill>
            <a:srgbClr val="4B1D3F"/>
          </a:solidFill>
          <a:ln w="12700">
            <a:solidFill>
              <a:srgbClr val="4B1D3F"/>
            </a:solidFill>
            <a:prstDash val="solid"/>
          </a:ln>
        </p:spPr>
      </p:sp>
      <p:sp>
        <p:nvSpPr>
          <p:cNvPr id="8" name="Text 6"/>
          <p:cNvSpPr txBox="1"/>
          <p:nvPr/>
        </p:nvSpPr>
        <p:spPr>
          <a:xfrm>
            <a:off x="8961120" y="1234440"/>
            <a:ext cx="2697480" cy="411480"/>
          </a:xfrm>
          <a:prstGeom prst="rect">
            <a:avLst/>
          </a:prstGeom>
          <a:noFill/>
          <a:ln/>
        </p:spPr>
        <p:txBody>
          <a:bodyPr wrap="square" lIns="0" tIns="0" rIns="0" bIns="0" rtlCol="0" anchor="ctr"/>
          <a:lstStyle/>
          <a:p>
            <a:pPr algn="ctr" indent="0" marL="0">
              <a:buNone/>
            </a:pPr>
            <a:r>
              <a:rPr lang="en-US" sz="1400" b="1" dirty="0">
                <a:solidFill>
                  <a:srgbClr val="FFFFFF"/>
                </a:solidFill>
              </a:rPr>
              <a:t>Enterprise motion</a:t>
            </a:r>
            <a:endParaRPr lang="en-US" sz="1400" dirty="0"/>
          </a:p>
        </p:txBody>
      </p:sp>
      <p:sp>
        <p:nvSpPr>
          <p:cNvPr id="9" name="Segment card Velocity"/>
          <p:cNvSpPr/>
          <p:nvPr/>
        </p:nvSpPr>
        <p:spPr>
          <a:xfrm>
            <a:off x="457200" y="1783080"/>
            <a:ext cx="2697480" cy="3337560"/>
          </a:xfrm>
          <a:prstGeom prst="rect">
            <a:avLst/>
          </a:prstGeom>
          <a:solidFill>
            <a:srgbClr val="F3EFF2"/>
          </a:solidFill>
          <a:ln w="12700">
            <a:solidFill>
              <a:srgbClr val="F3EFF2"/>
            </a:solidFill>
            <a:prstDash val="solid"/>
          </a:ln>
        </p:spPr>
      </p:sp>
      <p:sp>
        <p:nvSpPr>
          <p:cNvPr id="10" name="Text 8"/>
          <p:cNvSpPr txBox="1"/>
          <p:nvPr/>
        </p:nvSpPr>
        <p:spPr>
          <a:xfrm>
            <a:off x="594360" y="1874520"/>
            <a:ext cx="2423160" cy="365760"/>
          </a:xfrm>
          <a:prstGeom prst="rect">
            <a:avLst/>
          </a:prstGeom>
          <a:noFill/>
          <a:ln/>
        </p:spPr>
        <p:txBody>
          <a:bodyPr wrap="square" lIns="0" tIns="0" rIns="0" bIns="0" rtlCol="0" anchor="ctr"/>
          <a:lstStyle/>
          <a:p>
            <a:pPr indent="0" marL="0">
              <a:buNone/>
            </a:pPr>
            <a:r>
              <a:rPr lang="en-US" sz="1800" b="1" dirty="0">
                <a:solidFill>
                  <a:srgbClr val="4B1D3F"/>
                </a:solidFill>
              </a:rPr>
              <a:t>Velocity</a:t>
            </a:r>
            <a:endParaRPr lang="en-US" sz="1800" dirty="0"/>
          </a:p>
        </p:txBody>
      </p:sp>
      <p:sp>
        <p:nvSpPr>
          <p:cNvPr id="11" name="Text 9"/>
          <p:cNvSpPr txBox="1"/>
          <p:nvPr/>
        </p:nvSpPr>
        <p:spPr>
          <a:xfrm>
            <a:off x="594360" y="2240280"/>
            <a:ext cx="2423160" cy="274320"/>
          </a:xfrm>
          <a:prstGeom prst="rect">
            <a:avLst/>
          </a:prstGeom>
          <a:noFill/>
          <a:ln/>
        </p:spPr>
        <p:txBody>
          <a:bodyPr wrap="square" lIns="0" tIns="0" rIns="0" bIns="0" rtlCol="0" anchor="ctr"/>
          <a:lstStyle/>
          <a:p>
            <a:pPr indent="0" marL="0">
              <a:buNone/>
            </a:pPr>
            <a:r>
              <a:rPr lang="en-US" sz="1300" dirty="0">
                <a:solidFill>
                  <a:srgbClr val="6B6470"/>
                </a:solidFill>
              </a:rPr>
              <a:t>1–50 employees</a:t>
            </a:r>
            <a:endParaRPr lang="en-US" sz="1300" dirty="0"/>
          </a:p>
        </p:txBody>
      </p:sp>
      <p:sp>
        <p:nvSpPr>
          <p:cNvPr id="12" name="Text 10"/>
          <p:cNvSpPr txBox="1"/>
          <p:nvPr/>
        </p:nvSpPr>
        <p:spPr>
          <a:xfrm>
            <a:off x="594360" y="2606040"/>
            <a:ext cx="2423160" cy="2423160"/>
          </a:xfrm>
          <a:prstGeom prst="rect">
            <a:avLst/>
          </a:prstGeom>
          <a:noFill/>
          <a:ln/>
        </p:spPr>
        <p:txBody>
          <a:bodyPr wrap="square" lIns="0" tIns="0" rIns="0" bIns="0" rtlCol="0" anchor="t"/>
          <a:lstStyle/>
          <a:p>
            <a:pPr indent="0" marL="0">
              <a:buNone/>
            </a:pPr>
            <a:r>
              <a:rPr lang="en-US" sz="1300" b="1" dirty="0">
                <a:solidFill>
                  <a:srgbClr val="1E1B24"/>
                </a:solidFill>
              </a:rPr>
              <a:t>Why here</a:t>
            </a:r>
            <a:endParaRPr lang="en-US" sz="1300" dirty="0"/>
          </a:p>
          <a:p>
            <a:pPr indent="0" marL="0">
              <a:buNone/>
            </a:pPr>
            <a:r>
              <a:rPr lang="en-US" sz="1300" dirty="0">
                <a:solidFill>
                  <a:srgbClr val="1E1B24"/>
                </a:solidFill>
              </a:rPr>
              <a:t>$3.7K ARR/logo; 10% lead→win</a:t>
            </a:r>
            <a:endParaRPr lang="en-US" sz="1300" dirty="0"/>
          </a:p>
          <a:p>
            <a:pPr indent="0" marL="0">
              <a:buNone/>
            </a:pPr>
            <a:r>
              <a:rPr lang="en-US" sz="600" dirty="0">
                <a:solidFill>
                  <a:srgbClr val="1E1B24"/>
                </a:solidFill>
              </a:rPr>
              <a:t> </a:t>
            </a:r>
            <a:endParaRPr lang="en-US" sz="1300" dirty="0"/>
          </a:p>
          <a:p>
            <a:pPr indent="0" marL="0">
              <a:buNone/>
            </a:pPr>
            <a:r>
              <a:rPr lang="en-US" sz="1300" b="1" dirty="0">
                <a:solidFill>
                  <a:srgbClr val="1E1B24"/>
                </a:solidFill>
              </a:rPr>
              <a:t>Motion</a:t>
            </a:r>
            <a:endParaRPr lang="en-US" sz="1300" dirty="0"/>
          </a:p>
          <a:p>
            <a:pPr indent="0" marL="0">
              <a:buNone/>
            </a:pPr>
            <a:r>
              <a:rPr lang="en-US" sz="1300" dirty="0">
                <a:solidFill>
                  <a:srgbClr val="1E1B24"/>
                </a:solidFill>
              </a:rPr>
              <a:t>High-velocity inbound; self-scheduling for 1–10</a:t>
            </a:r>
            <a:endParaRPr lang="en-US" sz="1300" dirty="0"/>
          </a:p>
          <a:p>
            <a:pPr indent="0" marL="0">
              <a:buNone/>
            </a:pPr>
            <a:r>
              <a:rPr lang="en-US" sz="600" dirty="0">
                <a:solidFill>
                  <a:srgbClr val="1E1B24"/>
                </a:solidFill>
              </a:rPr>
              <a:t> </a:t>
            </a:r>
            <a:endParaRPr lang="en-US" sz="1300" dirty="0"/>
          </a:p>
          <a:p>
            <a:pPr indent="0" marL="0">
              <a:buNone/>
            </a:pPr>
            <a:r>
              <a:rPr lang="en-US" sz="1300" b="1" dirty="0">
                <a:solidFill>
                  <a:srgbClr val="1E1B24"/>
                </a:solidFill>
              </a:rPr>
              <a:t>Roles</a:t>
            </a:r>
            <a:endParaRPr lang="en-US" sz="1300" dirty="0"/>
          </a:p>
          <a:p>
            <a:pPr indent="0" marL="0">
              <a:buNone/>
            </a:pPr>
            <a:r>
              <a:rPr lang="en-US" sz="1300" dirty="0">
                <a:solidFill>
                  <a:srgbClr val="1E1B24"/>
                </a:solidFill>
              </a:rPr>
              <a:t>Dedicated SDR + AE; SC by exception</a:t>
            </a:r>
            <a:endParaRPr lang="en-US" sz="1300" dirty="0"/>
          </a:p>
        </p:txBody>
      </p:sp>
      <p:sp>
        <p:nvSpPr>
          <p:cNvPr id="13" name="Segment card Emerging MM"/>
          <p:cNvSpPr/>
          <p:nvPr/>
        </p:nvSpPr>
        <p:spPr>
          <a:xfrm>
            <a:off x="3291840" y="1783080"/>
            <a:ext cx="2697480" cy="3337560"/>
          </a:xfrm>
          <a:prstGeom prst="rect">
            <a:avLst/>
          </a:prstGeom>
          <a:solidFill>
            <a:srgbClr val="F3EFF2"/>
          </a:solidFill>
          <a:ln w="12700">
            <a:solidFill>
              <a:srgbClr val="F3EFF2"/>
            </a:solidFill>
            <a:prstDash val="solid"/>
          </a:ln>
        </p:spPr>
      </p:sp>
      <p:sp>
        <p:nvSpPr>
          <p:cNvPr id="14" name="Text 12"/>
          <p:cNvSpPr txBox="1"/>
          <p:nvPr/>
        </p:nvSpPr>
        <p:spPr>
          <a:xfrm>
            <a:off x="3429000" y="1874520"/>
            <a:ext cx="2423160" cy="365760"/>
          </a:xfrm>
          <a:prstGeom prst="rect">
            <a:avLst/>
          </a:prstGeom>
          <a:noFill/>
          <a:ln/>
        </p:spPr>
        <p:txBody>
          <a:bodyPr wrap="square" lIns="0" tIns="0" rIns="0" bIns="0" rtlCol="0" anchor="ctr"/>
          <a:lstStyle/>
          <a:p>
            <a:pPr indent="0" marL="0">
              <a:buNone/>
            </a:pPr>
            <a:r>
              <a:rPr lang="en-US" sz="1800" b="1" dirty="0">
                <a:solidFill>
                  <a:srgbClr val="4B1D3F"/>
                </a:solidFill>
              </a:rPr>
              <a:t>Emerging MM</a:t>
            </a:r>
            <a:endParaRPr lang="en-US" sz="1800" dirty="0"/>
          </a:p>
        </p:txBody>
      </p:sp>
      <p:sp>
        <p:nvSpPr>
          <p:cNvPr id="15" name="Text 13"/>
          <p:cNvSpPr txBox="1"/>
          <p:nvPr/>
        </p:nvSpPr>
        <p:spPr>
          <a:xfrm>
            <a:off x="3429000" y="2240280"/>
            <a:ext cx="2423160" cy="274320"/>
          </a:xfrm>
          <a:prstGeom prst="rect">
            <a:avLst/>
          </a:prstGeom>
          <a:noFill/>
          <a:ln/>
        </p:spPr>
        <p:txBody>
          <a:bodyPr wrap="square" lIns="0" tIns="0" rIns="0" bIns="0" rtlCol="0" anchor="ctr"/>
          <a:lstStyle/>
          <a:p>
            <a:pPr indent="0" marL="0">
              <a:buNone/>
            </a:pPr>
            <a:r>
              <a:rPr lang="en-US" sz="1300" dirty="0">
                <a:solidFill>
                  <a:srgbClr val="6B6470"/>
                </a:solidFill>
              </a:rPr>
              <a:t>51–100 employees</a:t>
            </a:r>
            <a:endParaRPr lang="en-US" sz="1300" dirty="0"/>
          </a:p>
        </p:txBody>
      </p:sp>
      <p:sp>
        <p:nvSpPr>
          <p:cNvPr id="16" name="Text 14"/>
          <p:cNvSpPr txBox="1"/>
          <p:nvPr/>
        </p:nvSpPr>
        <p:spPr>
          <a:xfrm>
            <a:off x="3429000" y="2606040"/>
            <a:ext cx="2423160" cy="2423160"/>
          </a:xfrm>
          <a:prstGeom prst="rect">
            <a:avLst/>
          </a:prstGeom>
          <a:noFill/>
          <a:ln/>
        </p:spPr>
        <p:txBody>
          <a:bodyPr wrap="square" lIns="0" tIns="0" rIns="0" bIns="0" rtlCol="0" anchor="t"/>
          <a:lstStyle/>
          <a:p>
            <a:pPr indent="0" marL="0">
              <a:buNone/>
            </a:pPr>
            <a:r>
              <a:rPr lang="en-US" sz="1300" b="1" dirty="0">
                <a:solidFill>
                  <a:srgbClr val="1E1B24"/>
                </a:solidFill>
              </a:rPr>
              <a:t>Why here</a:t>
            </a:r>
            <a:endParaRPr lang="en-US" sz="1300" dirty="0"/>
          </a:p>
          <a:p>
            <a:pPr indent="0" marL="0">
              <a:buNone/>
            </a:pPr>
            <a:r>
              <a:rPr lang="en-US" sz="1300" dirty="0">
                <a:solidFill>
                  <a:srgbClr val="1E1B24"/>
                </a:solidFill>
              </a:rPr>
              <a:t>ARR/logo jumps to $9.3K at the 50 line</a:t>
            </a:r>
            <a:endParaRPr lang="en-US" sz="1300" dirty="0"/>
          </a:p>
          <a:p>
            <a:pPr indent="0" marL="0">
              <a:buNone/>
            </a:pPr>
            <a:r>
              <a:rPr lang="en-US" sz="600" dirty="0">
                <a:solidFill>
                  <a:srgbClr val="1E1B24"/>
                </a:solidFill>
              </a:rPr>
              <a:t> </a:t>
            </a:r>
            <a:endParaRPr lang="en-US" sz="1300" dirty="0"/>
          </a:p>
          <a:p>
            <a:pPr indent="0" marL="0">
              <a:buNone/>
            </a:pPr>
            <a:r>
              <a:rPr lang="en-US" sz="1300" b="1" dirty="0">
                <a:solidFill>
                  <a:srgbClr val="1E1B24"/>
                </a:solidFill>
              </a:rPr>
              <a:t>Motion</a:t>
            </a:r>
            <a:endParaRPr lang="en-US" sz="1300" dirty="0"/>
          </a:p>
          <a:p>
            <a:pPr indent="0" marL="0">
              <a:buNone/>
            </a:pPr>
            <a:r>
              <a:rPr lang="en-US" sz="1300" dirty="0">
                <a:solidFill>
                  <a:srgbClr val="1E1B24"/>
                </a:solidFill>
              </a:rPr>
              <a:t>Inbound with fast follow-up SLA; routed first</a:t>
            </a:r>
            <a:endParaRPr lang="en-US" sz="1300" dirty="0"/>
          </a:p>
          <a:p>
            <a:pPr indent="0" marL="0">
              <a:buNone/>
            </a:pPr>
            <a:r>
              <a:rPr lang="en-US" sz="600" dirty="0">
                <a:solidFill>
                  <a:srgbClr val="1E1B24"/>
                </a:solidFill>
              </a:rPr>
              <a:t> </a:t>
            </a:r>
            <a:endParaRPr lang="en-US" sz="1300" dirty="0"/>
          </a:p>
          <a:p>
            <a:pPr indent="0" marL="0">
              <a:buNone/>
            </a:pPr>
            <a:r>
              <a:rPr lang="en-US" sz="1300" b="1" dirty="0">
                <a:solidFill>
                  <a:srgbClr val="1E1B24"/>
                </a:solidFill>
              </a:rPr>
              <a:t>Roles</a:t>
            </a:r>
            <a:endParaRPr lang="en-US" sz="1300" dirty="0"/>
          </a:p>
          <a:p>
            <a:pPr indent="0" marL="0">
              <a:buNone/>
            </a:pPr>
            <a:r>
              <a:rPr lang="en-US" sz="1300" dirty="0">
                <a:solidFill>
                  <a:srgbClr val="1E1B24"/>
                </a:solidFill>
              </a:rPr>
              <a:t>Dedicated SDR + AE; pooled SC</a:t>
            </a:r>
            <a:endParaRPr lang="en-US" sz="1300" dirty="0"/>
          </a:p>
        </p:txBody>
      </p:sp>
      <p:sp>
        <p:nvSpPr>
          <p:cNvPr id="17" name="Segment card Core MM"/>
          <p:cNvSpPr/>
          <p:nvPr/>
        </p:nvSpPr>
        <p:spPr>
          <a:xfrm>
            <a:off x="6126480" y="1783080"/>
            <a:ext cx="2697480" cy="3337560"/>
          </a:xfrm>
          <a:prstGeom prst="rect">
            <a:avLst/>
          </a:prstGeom>
          <a:solidFill>
            <a:srgbClr val="F3EFF2"/>
          </a:solidFill>
          <a:ln w="12700">
            <a:solidFill>
              <a:srgbClr val="F3EFF2"/>
            </a:solidFill>
            <a:prstDash val="solid"/>
          </a:ln>
        </p:spPr>
      </p:sp>
      <p:sp>
        <p:nvSpPr>
          <p:cNvPr id="18" name="Text 16"/>
          <p:cNvSpPr txBox="1"/>
          <p:nvPr/>
        </p:nvSpPr>
        <p:spPr>
          <a:xfrm>
            <a:off x="6263640" y="1874520"/>
            <a:ext cx="2423160" cy="365760"/>
          </a:xfrm>
          <a:prstGeom prst="rect">
            <a:avLst/>
          </a:prstGeom>
          <a:noFill/>
          <a:ln/>
        </p:spPr>
        <p:txBody>
          <a:bodyPr wrap="square" lIns="0" tIns="0" rIns="0" bIns="0" rtlCol="0" anchor="ctr"/>
          <a:lstStyle/>
          <a:p>
            <a:pPr indent="0" marL="0">
              <a:buNone/>
            </a:pPr>
            <a:r>
              <a:rPr lang="en-US" sz="1800" b="1" dirty="0">
                <a:solidFill>
                  <a:srgbClr val="4B1D3F"/>
                </a:solidFill>
              </a:rPr>
              <a:t>Core MM</a:t>
            </a:r>
            <a:endParaRPr lang="en-US" sz="1800" dirty="0"/>
          </a:p>
        </p:txBody>
      </p:sp>
      <p:sp>
        <p:nvSpPr>
          <p:cNvPr id="19" name="Text 17"/>
          <p:cNvSpPr txBox="1"/>
          <p:nvPr/>
        </p:nvSpPr>
        <p:spPr>
          <a:xfrm>
            <a:off x="6263640" y="2240280"/>
            <a:ext cx="2423160" cy="274320"/>
          </a:xfrm>
          <a:prstGeom prst="rect">
            <a:avLst/>
          </a:prstGeom>
          <a:noFill/>
          <a:ln/>
        </p:spPr>
        <p:txBody>
          <a:bodyPr wrap="square" lIns="0" tIns="0" rIns="0" bIns="0" rtlCol="0" anchor="ctr"/>
          <a:lstStyle/>
          <a:p>
            <a:pPr indent="0" marL="0">
              <a:buNone/>
            </a:pPr>
            <a:r>
              <a:rPr lang="en-US" sz="1300" dirty="0">
                <a:solidFill>
                  <a:srgbClr val="6B6470"/>
                </a:solidFill>
              </a:rPr>
              <a:t>101–500 employees</a:t>
            </a:r>
            <a:endParaRPr lang="en-US" sz="1300" dirty="0"/>
          </a:p>
        </p:txBody>
      </p:sp>
      <p:sp>
        <p:nvSpPr>
          <p:cNvPr id="20" name="Text 18"/>
          <p:cNvSpPr txBox="1"/>
          <p:nvPr/>
        </p:nvSpPr>
        <p:spPr>
          <a:xfrm>
            <a:off x="6263640" y="2606040"/>
            <a:ext cx="2423160" cy="2423160"/>
          </a:xfrm>
          <a:prstGeom prst="rect">
            <a:avLst/>
          </a:prstGeom>
          <a:noFill/>
          <a:ln/>
        </p:spPr>
        <p:txBody>
          <a:bodyPr wrap="square" lIns="0" tIns="0" rIns="0" bIns="0" rtlCol="0" anchor="t"/>
          <a:lstStyle/>
          <a:p>
            <a:pPr indent="0" marL="0">
              <a:buNone/>
            </a:pPr>
            <a:r>
              <a:rPr lang="en-US" sz="1300" b="1" dirty="0">
                <a:solidFill>
                  <a:srgbClr val="1E1B24"/>
                </a:solidFill>
              </a:rPr>
              <a:t>Why here</a:t>
            </a:r>
            <a:endParaRPr lang="en-US" sz="1300" dirty="0"/>
          </a:p>
          <a:p>
            <a:pPr indent="0" marL="0">
              <a:buNone/>
            </a:pPr>
            <a:r>
              <a:rPr lang="en-US" sz="1300" dirty="0">
                <a:solidFill>
                  <a:srgbClr val="1E1B24"/>
                </a:solidFill>
              </a:rPr>
              <a:t>Lead→win halves to 4.6% at the 100 line</a:t>
            </a:r>
            <a:endParaRPr lang="en-US" sz="1300" dirty="0"/>
          </a:p>
          <a:p>
            <a:pPr indent="0" marL="0">
              <a:buNone/>
            </a:pPr>
            <a:r>
              <a:rPr lang="en-US" sz="600" dirty="0">
                <a:solidFill>
                  <a:srgbClr val="1E1B24"/>
                </a:solidFill>
              </a:rPr>
              <a:t> </a:t>
            </a:r>
            <a:endParaRPr lang="en-US" sz="1300" dirty="0"/>
          </a:p>
          <a:p>
            <a:pPr indent="0" marL="0">
              <a:buNone/>
            </a:pPr>
            <a:r>
              <a:rPr lang="en-US" sz="1300" b="1" dirty="0">
                <a:solidFill>
                  <a:srgbClr val="1E1B24"/>
                </a:solidFill>
              </a:rPr>
              <a:t>Motion</a:t>
            </a:r>
            <a:endParaRPr lang="en-US" sz="1300" dirty="0"/>
          </a:p>
          <a:p>
            <a:pPr indent="0" marL="0">
              <a:buNone/>
            </a:pPr>
            <a:r>
              <a:rPr lang="en-US" sz="1300" dirty="0">
                <a:solidFill>
                  <a:srgbClr val="1E1B24"/>
                </a:solidFill>
              </a:rPr>
              <a:t>Consultative; SC on about half of demos</a:t>
            </a:r>
            <a:endParaRPr lang="en-US" sz="1300" dirty="0"/>
          </a:p>
          <a:p>
            <a:pPr indent="0" marL="0">
              <a:buNone/>
            </a:pPr>
            <a:r>
              <a:rPr lang="en-US" sz="600" dirty="0">
                <a:solidFill>
                  <a:srgbClr val="1E1B24"/>
                </a:solidFill>
              </a:rPr>
              <a:t> </a:t>
            </a:r>
            <a:endParaRPr lang="en-US" sz="1300" dirty="0"/>
          </a:p>
          <a:p>
            <a:pPr indent="0" marL="0">
              <a:buNone/>
            </a:pPr>
            <a:r>
              <a:rPr lang="en-US" sz="1300" b="1" dirty="0">
                <a:solidFill>
                  <a:srgbClr val="1E1B24"/>
                </a:solidFill>
              </a:rPr>
              <a:t>Roles</a:t>
            </a:r>
            <a:endParaRPr lang="en-US" sz="1300" dirty="0"/>
          </a:p>
          <a:p>
            <a:pPr indent="0" marL="0">
              <a:buNone/>
            </a:pPr>
            <a:r>
              <a:rPr lang="en-US" sz="1300" dirty="0">
                <a:solidFill>
                  <a:srgbClr val="1E1B24"/>
                </a:solidFill>
              </a:rPr>
              <a:t>Dedicated SDR + AE; pooled SC</a:t>
            </a:r>
            <a:endParaRPr lang="en-US" sz="1300" dirty="0"/>
          </a:p>
        </p:txBody>
      </p:sp>
      <p:sp>
        <p:nvSpPr>
          <p:cNvPr id="21" name="Segment card Enterprise"/>
          <p:cNvSpPr/>
          <p:nvPr/>
        </p:nvSpPr>
        <p:spPr>
          <a:xfrm>
            <a:off x="8961120" y="1783080"/>
            <a:ext cx="2697480" cy="3337560"/>
          </a:xfrm>
          <a:prstGeom prst="rect">
            <a:avLst/>
          </a:prstGeom>
          <a:solidFill>
            <a:srgbClr val="F3EFF2"/>
          </a:solidFill>
          <a:ln w="12700">
            <a:solidFill>
              <a:srgbClr val="F3EFF2"/>
            </a:solidFill>
            <a:prstDash val="solid"/>
          </a:ln>
        </p:spPr>
      </p:sp>
      <p:sp>
        <p:nvSpPr>
          <p:cNvPr id="22" name="Text 20"/>
          <p:cNvSpPr txBox="1"/>
          <p:nvPr/>
        </p:nvSpPr>
        <p:spPr>
          <a:xfrm>
            <a:off x="9098280" y="1874520"/>
            <a:ext cx="2423160" cy="365760"/>
          </a:xfrm>
          <a:prstGeom prst="rect">
            <a:avLst/>
          </a:prstGeom>
          <a:noFill/>
          <a:ln/>
        </p:spPr>
        <p:txBody>
          <a:bodyPr wrap="square" lIns="0" tIns="0" rIns="0" bIns="0" rtlCol="0" anchor="ctr"/>
          <a:lstStyle/>
          <a:p>
            <a:pPr indent="0" marL="0">
              <a:buNone/>
            </a:pPr>
            <a:r>
              <a:rPr lang="en-US" sz="1800" b="1" dirty="0">
                <a:solidFill>
                  <a:srgbClr val="4B1D3F"/>
                </a:solidFill>
              </a:rPr>
              <a:t>Enterprise</a:t>
            </a:r>
            <a:endParaRPr lang="en-US" sz="1800" dirty="0"/>
          </a:p>
        </p:txBody>
      </p:sp>
      <p:sp>
        <p:nvSpPr>
          <p:cNvPr id="23" name="Text 21"/>
          <p:cNvSpPr txBox="1"/>
          <p:nvPr/>
        </p:nvSpPr>
        <p:spPr>
          <a:xfrm>
            <a:off x="9098280" y="2240280"/>
            <a:ext cx="2423160" cy="274320"/>
          </a:xfrm>
          <a:prstGeom prst="rect">
            <a:avLst/>
          </a:prstGeom>
          <a:noFill/>
          <a:ln/>
        </p:spPr>
        <p:txBody>
          <a:bodyPr wrap="square" lIns="0" tIns="0" rIns="0" bIns="0" rtlCol="0" anchor="ctr"/>
          <a:lstStyle/>
          <a:p>
            <a:pPr indent="0" marL="0">
              <a:buNone/>
            </a:pPr>
            <a:r>
              <a:rPr lang="en-US" sz="1300" dirty="0">
                <a:solidFill>
                  <a:srgbClr val="6B6470"/>
                </a:solidFill>
              </a:rPr>
              <a:t>501+ employees</a:t>
            </a:r>
            <a:endParaRPr lang="en-US" sz="1300" dirty="0"/>
          </a:p>
        </p:txBody>
      </p:sp>
      <p:sp>
        <p:nvSpPr>
          <p:cNvPr id="24" name="Text 22"/>
          <p:cNvSpPr txBox="1"/>
          <p:nvPr/>
        </p:nvSpPr>
        <p:spPr>
          <a:xfrm>
            <a:off x="9098280" y="2606040"/>
            <a:ext cx="2423160" cy="2423160"/>
          </a:xfrm>
          <a:prstGeom prst="rect">
            <a:avLst/>
          </a:prstGeom>
          <a:noFill/>
          <a:ln/>
        </p:spPr>
        <p:txBody>
          <a:bodyPr wrap="square" lIns="0" tIns="0" rIns="0" bIns="0" rtlCol="0" anchor="t"/>
          <a:lstStyle/>
          <a:p>
            <a:pPr indent="0" marL="0">
              <a:buNone/>
            </a:pPr>
            <a:r>
              <a:rPr lang="en-US" sz="1300" b="1" dirty="0">
                <a:solidFill>
                  <a:srgbClr val="1E1B24"/>
                </a:solidFill>
              </a:rPr>
              <a:t>Why here</a:t>
            </a:r>
            <a:endParaRPr lang="en-US" sz="1300" dirty="0"/>
          </a:p>
          <a:p>
            <a:pPr indent="0" marL="0">
              <a:buNone/>
            </a:pPr>
            <a:r>
              <a:rPr lang="en-US" sz="1300" dirty="0">
                <a:solidFill>
                  <a:srgbClr val="1E1B24"/>
                </a:solidFill>
              </a:rPr>
              <a:t>Lead→win halves again; $22.7K ARR/logo</a:t>
            </a:r>
            <a:endParaRPr lang="en-US" sz="1300" dirty="0"/>
          </a:p>
          <a:p>
            <a:pPr indent="0" marL="0">
              <a:buNone/>
            </a:pPr>
            <a:r>
              <a:rPr lang="en-US" sz="600" dirty="0">
                <a:solidFill>
                  <a:srgbClr val="1E1B24"/>
                </a:solidFill>
              </a:rPr>
              <a:t> </a:t>
            </a:r>
            <a:endParaRPr lang="en-US" sz="1300" dirty="0"/>
          </a:p>
          <a:p>
            <a:pPr indent="0" marL="0">
              <a:buNone/>
            </a:pPr>
            <a:r>
              <a:rPr lang="en-US" sz="1300" b="1" dirty="0">
                <a:solidFill>
                  <a:srgbClr val="1E1B24"/>
                </a:solidFill>
              </a:rPr>
              <a:t>Motion</a:t>
            </a:r>
            <a:endParaRPr lang="en-US" sz="1300" dirty="0"/>
          </a:p>
          <a:p>
            <a:pPr indent="0" marL="0">
              <a:buNone/>
            </a:pPr>
            <a:r>
              <a:rPr lang="en-US" sz="1300" dirty="0">
                <a:solidFill>
                  <a:srgbClr val="1E1B24"/>
                </a:solidFill>
              </a:rPr>
              <a:t>Multi-stakeholder; SC on every deal</a:t>
            </a:r>
            <a:endParaRPr lang="en-US" sz="1300" dirty="0"/>
          </a:p>
          <a:p>
            <a:pPr indent="0" marL="0">
              <a:buNone/>
            </a:pPr>
            <a:r>
              <a:rPr lang="en-US" sz="600" dirty="0">
                <a:solidFill>
                  <a:srgbClr val="1E1B24"/>
                </a:solidFill>
              </a:rPr>
              <a:t> </a:t>
            </a:r>
            <a:endParaRPr lang="en-US" sz="1300" dirty="0"/>
          </a:p>
          <a:p>
            <a:pPr indent="0" marL="0">
              <a:buNone/>
            </a:pPr>
            <a:r>
              <a:rPr lang="en-US" sz="1300" b="1" dirty="0">
                <a:solidFill>
                  <a:srgbClr val="1E1B24"/>
                </a:solidFill>
              </a:rPr>
              <a:t>Roles</a:t>
            </a:r>
            <a:endParaRPr lang="en-US" sz="1300" dirty="0"/>
          </a:p>
          <a:p>
            <a:pPr indent="0" marL="0">
              <a:buNone/>
            </a:pPr>
            <a:r>
              <a:rPr lang="en-US" sz="1300" dirty="0">
                <a:solidFill>
                  <a:srgbClr val="1E1B24"/>
                </a:solidFill>
              </a:rPr>
              <a:t>Dedicated SDR + AE + SC</a:t>
            </a:r>
            <a:endParaRPr lang="en-US" sz="1300" dirty="0"/>
          </a:p>
        </p:txBody>
      </p:sp>
      <p:sp>
        <p:nvSpPr>
          <p:cNvPr id="25" name="Alternatives box"/>
          <p:cNvSpPr/>
          <p:nvPr/>
        </p:nvSpPr>
        <p:spPr>
          <a:xfrm>
            <a:off x="457200" y="5303520"/>
            <a:ext cx="11274552" cy="914400"/>
          </a:xfrm>
          <a:prstGeom prst="rect">
            <a:avLst/>
          </a:prstGeom>
          <a:solidFill>
            <a:srgbClr val="FFFFFF"/>
          </a:solidFill>
          <a:ln w="12700">
            <a:solidFill>
              <a:srgbClr val="FFFFFF"/>
            </a:solidFill>
            <a:prstDash val="solid"/>
          </a:ln>
        </p:spPr>
      </p:sp>
      <p:sp>
        <p:nvSpPr>
          <p:cNvPr id="26" name="Alternatives outline"/>
          <p:cNvSpPr/>
          <p:nvPr/>
        </p:nvSpPr>
        <p:spPr>
          <a:xfrm>
            <a:off x="457200" y="5303520"/>
            <a:ext cx="11274552" cy="914400"/>
          </a:xfrm>
          <a:prstGeom prst="rect">
            <a:avLst/>
          </a:prstGeom>
          <a:solidFill>
            <a:srgbClr val="FFFFFF"/>
          </a:solidFill>
          <a:ln w="12700">
            <a:solidFill>
              <a:srgbClr val="D9D2D7"/>
            </a:solidFill>
            <a:prstDash val="solid"/>
          </a:ln>
        </p:spPr>
      </p:sp>
      <p:sp>
        <p:nvSpPr>
          <p:cNvPr id="27" name="Text 25"/>
          <p:cNvSpPr txBox="1"/>
          <p:nvPr/>
        </p:nvSpPr>
        <p:spPr>
          <a:xfrm>
            <a:off x="640080" y="5349240"/>
            <a:ext cx="10927080" cy="822960"/>
          </a:xfrm>
          <a:prstGeom prst="rect">
            <a:avLst/>
          </a:prstGeom>
          <a:noFill/>
          <a:ln/>
        </p:spPr>
        <p:txBody>
          <a:bodyPr wrap="square" lIns="0" tIns="0" rIns="0" bIns="0" rtlCol="0" anchor="ctr"/>
          <a:lstStyle/>
          <a:p>
            <a:pPr indent="0" marL="0">
              <a:buNone/>
            </a:pPr>
            <a:r>
              <a:rPr lang="en-US" sz="1300" b="1" dirty="0">
                <a:solidFill>
                  <a:srgbClr val="4B1D3F"/>
                </a:solidFill>
              </a:rPr>
              <a:t>Alternatives considered:  </a:t>
            </a:r>
            <a:pPr indent="0" marL="0">
              <a:buNone/>
            </a:pPr>
            <a:r>
              <a:rPr lang="en-US" sz="1300" dirty="0">
                <a:solidFill>
                  <a:srgbClr val="1E1B24"/>
                </a:solidFill>
              </a:rPr>
              <a:t>Conventional 1–100 / 101–500 / 501+ puts $3.0K and $9.3K deals in one AE queue (3.1× spread), so 51–100 competes with the smallest deals.  </a:t>
            </a:r>
            <a:pPr indent="0" marL="0">
              <a:buNone/>
            </a:pPr>
            <a:r>
              <a:rPr lang="en-US" sz="1300" dirty="0">
                <a:solidFill>
                  <a:srgbClr val="1E1B24"/>
                </a:solidFill>
              </a:rPr>
              <a:t>1–50 / 51–500 / 501+ puts 9.6% and 4.6% lead→win in one team. Tradeoff of four segments: more routing rules and quota plans.</a:t>
            </a:r>
            <a:endParaRPr lang="en-US" sz="1300" dirty="0"/>
          </a:p>
        </p:txBody>
      </p:sp>
      <p:sp>
        <p:nvSpPr>
          <p:cNvPr id="28"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Boundaries can only fall on the dataset's bucket edges (10 / 50 / 100 / 500). 101–500 is one wide bucket; finer data could reveal a break near 250.</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49 roles of required capacity, weighted to where the funnel needs help: first touch below 500 and SCs upmarket</a:t>
            </a:r>
            <a:endParaRPr lang="en-US" sz="2600" dirty="0"/>
          </a:p>
        </p:txBody>
      </p:sp>
      <p:sp>
        <p:nvSpPr>
          <p:cNvPr id="3" name="Subtitle"/>
          <p:cNvSpPr txBox="1"/>
          <p:nvPr/>
        </p:nvSpPr>
        <p:spPr>
          <a:xfrm>
            <a:off x="457200" y="1097280"/>
            <a:ext cx="11274552" cy="365760"/>
          </a:xfrm>
          <a:prstGeom prst="rect">
            <a:avLst/>
          </a:prstGeom>
          <a:noFill/>
          <a:ln/>
        </p:spPr>
        <p:txBody>
          <a:bodyPr wrap="square" lIns="0" tIns="0" rIns="0" bIns="0" rtlCol="0" anchor="ctr"/>
          <a:lstStyle/>
          <a:p>
            <a:pPr indent="0" marL="0">
              <a:buNone/>
            </a:pPr>
            <a:r>
              <a:rPr lang="en-US" sz="1500" dirty="0">
                <a:solidFill>
                  <a:srgbClr val="6B6470"/>
                </a:solidFill>
              </a:rPr>
              <a:t>Recommended headcount at Aug–Oct 2021 demand (average month), ROUNDUP of modeled workload</a:t>
            </a:r>
            <a:endParaRPr lang="en-US" sz="1500" dirty="0"/>
          </a:p>
        </p:txBody>
      </p:sp>
      <p:graphicFrame>
        <p:nvGraphicFramePr>
          <p:cNvPr id="8" name="Staffing table"/>
          <p:cNvGraphicFramePr>
            <a:graphicFrameLocks noGrp="1"/>
          </p:cNvGraphicFramePr>
          <p:nvPr>
            <p:extLst>
              <p:ext uri="{D42A27DB-BD31-4B8C-83A1-F6EECF244321}">
                <p14:modId xmlns:p14="http://schemas.microsoft.com/office/powerpoint/2010/main" val="1579011935"/>
              </p:ext>
            </p:extLst>
          </p:nvPr>
        </p:nvGraphicFramePr>
        <p:xfrm>
          <a:off x="457200" y="1600200"/>
          <a:ext cx="7680960" cy="914400"/>
        </p:xfrm>
        <a:graphic>
          <a:graphicData uri="http://schemas.openxmlformats.org/drawingml/2006/table">
            <a:tbl>
              <a:tblPr/>
              <a:tblGrid>
                <a:gridCol w="1463040"/>
                <a:gridCol w="1243584"/>
                <a:gridCol w="1243584"/>
                <a:gridCol w="1243584"/>
                <a:gridCol w="1243584"/>
                <a:gridCol w="1243584"/>
              </a:tblGrid>
              <a:tr h="548640">
                <a:tc>
                  <a:txBody>
                    <a:bodyPr/>
                    <a:lstStyle/>
                    <a:p>
                      <a:pPr algn="ctr" indent="0" marL="0">
                        <a:buNone/>
                      </a:pPr>
                      <a:r>
                        <a:rPr lang="en-US" sz="1300" b="1" dirty="0">
                          <a:solidFill>
                            <a:srgbClr val="FFFFFF"/>
                          </a:solidFill>
                        </a:rPr>
                        <a:t>Role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Velocity</a:t>
                      </a:r>
                      <a:endParaRPr lang="en-US" sz="1300" dirty="0"/>
                    </a:p>
                    <a:p>
                      <a:pPr algn="ctr" indent="0" marL="0">
                        <a:buNone/>
                      </a:pPr>
                      <a:r>
                        <a:rPr lang="en-US" sz="1300" b="1" dirty="0">
                          <a:solidFill>
                            <a:srgbClr val="FFFFFF"/>
                          </a:solidFill>
                        </a:rPr>
                        <a:t>1–50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Emerging MM</a:t>
                      </a:r>
                      <a:endParaRPr lang="en-US" sz="1300" dirty="0"/>
                    </a:p>
                    <a:p>
                      <a:pPr algn="ctr" indent="0" marL="0">
                        <a:buNone/>
                      </a:pPr>
                      <a:r>
                        <a:rPr lang="en-US" sz="1300" b="1" dirty="0">
                          <a:solidFill>
                            <a:srgbClr val="FFFFFF"/>
                          </a:solidFill>
                        </a:rPr>
                        <a:t>51–100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Core MM</a:t>
                      </a:r>
                      <a:endParaRPr lang="en-US" sz="1300" dirty="0"/>
                    </a:p>
                    <a:p>
                      <a:pPr algn="ctr" indent="0" marL="0">
                        <a:buNone/>
                      </a:pPr>
                      <a:r>
                        <a:rPr lang="en-US" sz="1300" b="1" dirty="0">
                          <a:solidFill>
                            <a:srgbClr val="FFFFFF"/>
                          </a:solidFill>
                        </a:rPr>
                        <a:t>101–500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Enterprise</a:t>
                      </a:r>
                      <a:endParaRPr lang="en-US" sz="1300" dirty="0"/>
                    </a:p>
                    <a:p>
                      <a:pPr algn="ctr" indent="0" marL="0">
                        <a:buNone/>
                      </a:pPr>
                      <a:r>
                        <a:rPr lang="en-US" sz="1300" b="1" dirty="0">
                          <a:solidFill>
                            <a:srgbClr val="FFFFFF"/>
                          </a:solidFill>
                        </a:rPr>
                        <a:t>501+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Total</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411480">
                <a:tc>
                  <a:txBody>
                    <a:bodyPr/>
                    <a:lstStyle/>
                    <a:p>
                      <a:pPr algn="ctr" indent="0" marL="0">
                        <a:buNone/>
                      </a:pPr>
                      <a:r>
                        <a:rPr lang="en-US" sz="1300" dirty="0">
                          <a:solidFill>
                            <a:srgbClr val="1E1B24"/>
                          </a:solidFill>
                        </a:rPr>
                        <a:t>SDR</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4</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1E1B24"/>
                          </a:solidFill>
                        </a:rPr>
                        <a:t>13</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11480">
                <a:tc>
                  <a:txBody>
                    <a:bodyPr/>
                    <a:lstStyle/>
                    <a:p>
                      <a:pPr algn="ctr" indent="0" marL="0">
                        <a:buNone/>
                      </a:pPr>
                      <a:r>
                        <a:rPr lang="en-US" sz="1300" dirty="0">
                          <a:solidFill>
                            <a:srgbClr val="1E1B24"/>
                          </a:solidFill>
                        </a:rPr>
                        <a:t>AE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4</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7</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1E1B24"/>
                          </a:solidFill>
                        </a:rPr>
                        <a:t>27</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11480">
                <a:tc>
                  <a:txBody>
                    <a:bodyPr/>
                    <a:lstStyle/>
                    <a:p>
                      <a:pPr algn="ctr" indent="0" marL="0">
                        <a:buNone/>
                      </a:pPr>
                      <a:r>
                        <a:rPr lang="en-US" sz="1300" dirty="0">
                          <a:solidFill>
                            <a:srgbClr val="1E1B24"/>
                          </a:solidFill>
                        </a:rPr>
                        <a:t>SC</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gridSpan="3">
                  <a:txBody>
                    <a:bodyPr/>
                    <a:lstStyle/>
                    <a:p>
                      <a:pPr algn="ctr" indent="0" marL="0">
                        <a:buNone/>
                      </a:pPr>
                      <a:r>
                        <a:rPr lang="en-US" sz="1300" dirty="0">
                          <a:solidFill>
                            <a:srgbClr val="1E1B24"/>
                          </a:solidFill>
                        </a:rPr>
                        <a:t>5  (shared pool)</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hMerge="1">
                  <a:tcPr/>
                </a:tc>
                <a:tc hMerge="1">
                  <a:tcPr/>
                </a:tc>
                <a:tc>
                  <a:txBody>
                    <a:bodyPr/>
                    <a:lstStyle/>
                    <a:p>
                      <a:pPr algn="ctr" indent="0" marL="0">
                        <a:buNone/>
                      </a:pPr>
                      <a:r>
                        <a:rPr lang="en-US" sz="1300" dirty="0">
                          <a:solidFill>
                            <a:srgbClr val="1E1B24"/>
                          </a:solidFill>
                        </a:rPr>
                        <a:t>4</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1E1B24"/>
                          </a:solidFill>
                        </a:rPr>
                        <a:t>9</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11480">
                <a:tc>
                  <a:txBody>
                    <a:bodyPr/>
                    <a:lstStyle/>
                    <a:p>
                      <a:pPr algn="ctr" indent="0" marL="0">
                        <a:buNone/>
                      </a:pPr>
                      <a:r>
                        <a:rPr lang="en-US" sz="1300" b="1" dirty="0">
                          <a:solidFill>
                            <a:srgbClr val="1E1B24"/>
                          </a:solidFill>
                        </a:rPr>
                        <a:t>Total</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gridSpan="4">
                  <a:txBody>
                    <a:bodyPr/>
                    <a:lstStyle/>
                    <a:p>
                      <a:pPr algn="ctr" indent="0" marL="0">
                        <a:buNone/>
                      </a:pP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hMerge="1">
                  <a:tcPr/>
                </a:tc>
                <a:tc hMerge="1">
                  <a:tcPr/>
                </a:tc>
                <a:tc hMerge="1">
                  <a:tcPr/>
                </a:tc>
                <a:tc>
                  <a:txBody>
                    <a:bodyPr/>
                    <a:lstStyle/>
                    <a:p>
                      <a:pPr algn="ctr" indent="0" marL="0">
                        <a:buNone/>
                      </a:pPr>
                      <a:r>
                        <a:rPr lang="en-US" sz="1300" b="1" dirty="0">
                          <a:solidFill>
                            <a:srgbClr val="4B1D3F"/>
                          </a:solidFill>
                        </a:rPr>
                        <a:t>49</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11480">
                <a:tc>
                  <a:txBody>
                    <a:bodyPr/>
                    <a:lstStyle/>
                    <a:p>
                      <a:pPr algn="ctr" indent="0" marL="0">
                        <a:buNone/>
                      </a:pPr>
                      <a:r>
                        <a:rPr lang="en-US" sz="1300" dirty="0">
                          <a:solidFill>
                            <a:srgbClr val="1E1B24"/>
                          </a:solidFill>
                        </a:rPr>
                        <a:t>AEs per SDR</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2.2</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1.8</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11480">
                <a:tc>
                  <a:txBody>
                    <a:bodyPr/>
                    <a:lstStyle/>
                    <a:p>
                      <a:pPr algn="ctr" indent="0" marL="0">
                        <a:buNone/>
                      </a:pPr>
                      <a:r>
                        <a:rPr lang="en-US" sz="1300" dirty="0">
                          <a:solidFill>
                            <a:srgbClr val="1E1B24"/>
                          </a:solidFill>
                        </a:rPr>
                        <a:t>AEs per SC</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gridSpan="3">
                  <a:txBody>
                    <a:bodyPr/>
                    <a:lstStyle/>
                    <a:p>
                      <a:pPr algn="ctr" indent="0" marL="0">
                        <a:buNone/>
                      </a:pPr>
                      <a:r>
                        <a:rPr lang="en-US" sz="1300" dirty="0">
                          <a:solidFill>
                            <a:srgbClr val="1E1B24"/>
                          </a:solidFill>
                        </a:rPr>
                        <a:t>4.0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hMerge="1">
                  <a:tcPr/>
                </a:tc>
                <a:tc hMerge="1">
                  <a:tcPr/>
                </a:tc>
                <a:tc>
                  <a:txBody>
                    <a:bodyPr/>
                    <a:lstStyle/>
                    <a:p>
                      <a:pPr algn="ctr" indent="0" marL="0">
                        <a:buNone/>
                      </a:pPr>
                      <a:r>
                        <a:rPr lang="en-US" sz="1300" dirty="0">
                          <a:solidFill>
                            <a:srgbClr val="1E1B24"/>
                          </a:solidFill>
                        </a:rPr>
                        <a:t>1.8</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11480">
                <a:tc>
                  <a:txBody>
                    <a:bodyPr/>
                    <a:lstStyle/>
                    <a:p>
                      <a:pPr algn="ctr" indent="0" marL="0">
                        <a:buNone/>
                      </a:pPr>
                      <a:r>
                        <a:rPr lang="en-US" sz="1300" dirty="0">
                          <a:solidFill>
                            <a:srgbClr val="1E1B24"/>
                          </a:solidFill>
                        </a:rPr>
                        <a:t>Run-rate ARR</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$1.56M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$3.34M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$5.09M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$2.31M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1E1B24"/>
                          </a:solidFill>
                        </a:rPr>
                        <a:t>$12.31M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5" name="Text 2"/>
          <p:cNvSpPr txBox="1"/>
          <p:nvPr/>
        </p:nvSpPr>
        <p:spPr>
          <a:xfrm>
            <a:off x="457200" y="5120640"/>
            <a:ext cx="7680960" cy="685800"/>
          </a:xfrm>
          <a:prstGeom prst="rect">
            <a:avLst/>
          </a:prstGeom>
          <a:noFill/>
          <a:ln/>
        </p:spPr>
        <p:txBody>
          <a:bodyPr wrap="square" lIns="0" tIns="0" rIns="0" bIns="0" rtlCol="0" anchor="t"/>
          <a:lstStyle/>
          <a:p>
            <a:pPr indent="0" marL="0">
              <a:buNone/>
            </a:pPr>
            <a:r>
              <a:rPr lang="en-US" sz="1300" dirty="0">
                <a:solidFill>
                  <a:srgbClr val="1E1B24"/>
                </a:solidFill>
              </a:rPr>
              <a:t>Why: Velocity and 51–100 get dedicated SDR coverage where lead→demo slipped most; Core MM gets the largest AE team; Enterprise gets an SC on every deal.</a:t>
            </a:r>
            <a:endParaRPr lang="en-US" sz="1300" dirty="0"/>
          </a:p>
        </p:txBody>
      </p:sp>
      <p:sp>
        <p:nvSpPr>
          <p:cNvPr id="6" name="Method card"/>
          <p:cNvSpPr/>
          <p:nvPr/>
        </p:nvSpPr>
        <p:spPr>
          <a:xfrm>
            <a:off x="8412480" y="1600200"/>
            <a:ext cx="3319272" cy="2377440"/>
          </a:xfrm>
          <a:prstGeom prst="rect">
            <a:avLst/>
          </a:prstGeom>
          <a:solidFill>
            <a:srgbClr val="F3EFF2"/>
          </a:solidFill>
          <a:ln w="12700">
            <a:solidFill>
              <a:srgbClr val="F3EFF2"/>
            </a:solidFill>
            <a:prstDash val="solid"/>
          </a:ln>
        </p:spPr>
      </p:sp>
      <p:sp>
        <p:nvSpPr>
          <p:cNvPr id="7" name="Text 4"/>
          <p:cNvSpPr txBox="1"/>
          <p:nvPr/>
        </p:nvSpPr>
        <p:spPr>
          <a:xfrm>
            <a:off x="8549640" y="1691640"/>
            <a:ext cx="3063240" cy="2194560"/>
          </a:xfrm>
          <a:prstGeom prst="rect">
            <a:avLst/>
          </a:prstGeom>
          <a:noFill/>
          <a:ln/>
        </p:spPr>
        <p:txBody>
          <a:bodyPr wrap="square" lIns="0" tIns="0" rIns="0" bIns="0" rtlCol="0" anchor="t"/>
          <a:lstStyle/>
          <a:p>
            <a:pPr indent="0" marL="0">
              <a:spcAft>
                <a:spcPts val="400"/>
              </a:spcAft>
              <a:buNone/>
            </a:pPr>
            <a:r>
              <a:rPr lang="en-US" sz="1300" b="1" dirty="0">
                <a:solidFill>
                  <a:srgbClr val="4B1D3F"/>
                </a:solidFill>
              </a:rPr>
              <a:t>How it is sized</a:t>
            </a:r>
            <a:endParaRPr lang="en-US" sz="1300" dirty="0"/>
          </a:p>
          <a:p>
            <a:pPr indent="0" marL="0">
              <a:spcAft>
                <a:spcPts val="400"/>
              </a:spcAft>
              <a:buNone/>
            </a:pPr>
            <a:r>
              <a:rPr lang="en-US" sz="1300" dirty="0">
                <a:solidFill>
                  <a:srgbClr val="1E1B24"/>
                </a:solidFill>
              </a:rPr>
              <a:t>SDR = leads ÷ (capacity × 85%)</a:t>
            </a:r>
            <a:endParaRPr lang="en-US" sz="1300" dirty="0"/>
          </a:p>
          <a:p>
            <a:pPr indent="0" marL="0">
              <a:spcAft>
                <a:spcPts val="400"/>
              </a:spcAft>
              <a:buNone/>
            </a:pPr>
            <a:r>
              <a:rPr lang="en-US" sz="1300" dirty="0">
                <a:solidFill>
                  <a:srgbClr val="1E1B24"/>
                </a:solidFill>
              </a:rPr>
              <a:t>AE = demos ÷ (capacity × 85%)</a:t>
            </a:r>
            <a:endParaRPr lang="en-US" sz="1300" dirty="0"/>
          </a:p>
          <a:p>
            <a:pPr indent="0" marL="0">
              <a:spcAft>
                <a:spcPts val="400"/>
              </a:spcAft>
              <a:buNone/>
            </a:pPr>
            <a:r>
              <a:rPr lang="en-US" sz="1300" dirty="0">
                <a:solidFill>
                  <a:srgbClr val="1E1B24"/>
                </a:solidFill>
              </a:rPr>
              <a:t>SC = demos × SC rate ÷ (capacity × 85%)</a:t>
            </a:r>
            <a:endParaRPr lang="en-US" sz="1300" dirty="0"/>
          </a:p>
          <a:p>
            <a:pPr indent="0" marL="0">
              <a:spcAft>
                <a:spcPts val="400"/>
              </a:spcAft>
              <a:buNone/>
            </a:pPr>
            <a:r>
              <a:rPr lang="en-US" sz="1300" dirty="0">
                <a:solidFill>
                  <a:srgbClr val="6B6470"/>
                </a:solidFill>
              </a:rPr>
              <a:t>Round up; SC pool rounds up the combined need</a:t>
            </a:r>
            <a:endParaRPr lang="en-US" sz="1300" dirty="0"/>
          </a:p>
        </p:txBody>
      </p:sp>
      <p:sp>
        <p:nvSpPr>
          <p:cNvPr id="8" name="Upside card"/>
          <p:cNvSpPr/>
          <p:nvPr/>
        </p:nvSpPr>
        <p:spPr>
          <a:xfrm>
            <a:off x="8412480" y="4114800"/>
            <a:ext cx="3319272" cy="1463040"/>
          </a:xfrm>
          <a:prstGeom prst="rect">
            <a:avLst/>
          </a:prstGeom>
          <a:solidFill>
            <a:srgbClr val="4B1D3F"/>
          </a:solidFill>
          <a:ln w="12700">
            <a:solidFill>
              <a:srgbClr val="4B1D3F"/>
            </a:solidFill>
            <a:prstDash val="solid"/>
          </a:ln>
        </p:spPr>
      </p:sp>
      <p:sp>
        <p:nvSpPr>
          <p:cNvPr id="9" name="Text 6"/>
          <p:cNvSpPr txBox="1"/>
          <p:nvPr/>
        </p:nvSpPr>
        <p:spPr>
          <a:xfrm>
            <a:off x="8549640" y="4206240"/>
            <a:ext cx="3063240" cy="1280160"/>
          </a:xfrm>
          <a:prstGeom prst="rect">
            <a:avLst/>
          </a:prstGeom>
          <a:noFill/>
          <a:ln/>
        </p:spPr>
        <p:txBody>
          <a:bodyPr wrap="square" lIns="0" tIns="0" rIns="0" bIns="0" rtlCol="0" anchor="t"/>
          <a:lstStyle/>
          <a:p>
            <a:pPr indent="0" marL="0">
              <a:spcAft>
                <a:spcPts val="400"/>
              </a:spcAft>
              <a:buNone/>
            </a:pPr>
            <a:r>
              <a:rPr lang="en-US" sz="1300" b="1" dirty="0">
                <a:solidFill>
                  <a:srgbClr val="FFFFFF"/>
                </a:solidFill>
              </a:rPr>
              <a:t>Upside sensitivity</a:t>
            </a:r>
            <a:endParaRPr lang="en-US" sz="1300" dirty="0"/>
          </a:p>
          <a:p>
            <a:pPr indent="0" marL="0">
              <a:spcAft>
                <a:spcPts val="400"/>
              </a:spcAft>
              <a:buNone/>
            </a:pPr>
            <a:r>
              <a:rPr lang="en-US" sz="1300" dirty="0">
                <a:solidFill>
                  <a:srgbClr val="FFFFFF"/>
                </a:solidFill>
              </a:rPr>
              <a:t>If lead→demo recovers to Feb–Jul levels: +$0.86M ARR and +1 AE (Core MM), 50 roles. A scenario, not a forecast.</a:t>
            </a:r>
            <a:endParaRPr lang="en-US" sz="1300" dirty="0"/>
          </a:p>
        </p:txBody>
      </p:sp>
      <p:sp>
        <p:nvSpPr>
          <p:cNvPr id="10"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Staffing assumptions are illustrative, not company data. Headcount = required capacity, not net-new hires (current headcount unknown).</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Recommendations: diagnose first touch, organize by segment, and test before scaling headcount</a:t>
            </a:r>
            <a:endParaRPr lang="en-US" sz="2600" dirty="0"/>
          </a:p>
        </p:txBody>
      </p:sp>
      <p:sp>
        <p:nvSpPr>
          <p:cNvPr id="3" name="Badge 1"/>
          <p:cNvSpPr/>
          <p:nvPr/>
        </p:nvSpPr>
        <p:spPr>
          <a:xfrm>
            <a:off x="457200" y="1371600"/>
            <a:ext cx="411480" cy="411480"/>
          </a:xfrm>
          <a:prstGeom prst="ellipse">
            <a:avLst/>
          </a:prstGeom>
          <a:solidFill>
            <a:srgbClr val="4B1D3F"/>
          </a:solidFill>
          <a:ln w="12700">
            <a:solidFill>
              <a:srgbClr val="4B1D3F"/>
            </a:solidFill>
            <a:prstDash val="solid"/>
          </a:ln>
        </p:spPr>
      </p:sp>
      <p:sp>
        <p:nvSpPr>
          <p:cNvPr id="4" name="Text 2"/>
          <p:cNvSpPr txBox="1"/>
          <p:nvPr/>
        </p:nvSpPr>
        <p:spPr>
          <a:xfrm>
            <a:off x="457200" y="13716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005840" y="1325880"/>
            <a:ext cx="5120640" cy="365760"/>
          </a:xfrm>
          <a:prstGeom prst="rect">
            <a:avLst/>
          </a:prstGeom>
          <a:noFill/>
          <a:ln/>
        </p:spPr>
        <p:txBody>
          <a:bodyPr wrap="square" lIns="0" tIns="0" rIns="0" bIns="0" rtlCol="0" anchor="ctr"/>
          <a:lstStyle/>
          <a:p>
            <a:pPr indent="0" marL="0">
              <a:buNone/>
            </a:pPr>
            <a:r>
              <a:rPr lang="en-US" sz="1500" b="1" dirty="0">
                <a:solidFill>
                  <a:srgbClr val="4B1D3F"/>
                </a:solidFill>
              </a:rPr>
              <a:t>Fix lead→demo before buying more pipeline</a:t>
            </a:r>
            <a:endParaRPr lang="en-US" sz="1500" dirty="0"/>
          </a:p>
        </p:txBody>
      </p:sp>
      <p:sp>
        <p:nvSpPr>
          <p:cNvPr id="6" name="Text 4"/>
          <p:cNvSpPr txBox="1"/>
          <p:nvPr/>
        </p:nvSpPr>
        <p:spPr>
          <a:xfrm>
            <a:off x="1005840" y="1691640"/>
            <a:ext cx="5120640" cy="731520"/>
          </a:xfrm>
          <a:prstGeom prst="rect">
            <a:avLst/>
          </a:prstGeom>
          <a:noFill/>
          <a:ln/>
        </p:spPr>
        <p:txBody>
          <a:bodyPr wrap="square" lIns="0" tIns="0" rIns="0" bIns="0" rtlCol="0" anchor="t"/>
          <a:lstStyle/>
          <a:p>
            <a:pPr indent="0" marL="0">
              <a:buNone/>
            </a:pPr>
            <a:r>
              <a:rPr lang="en-US" sz="1300" dirty="0">
                <a:solidFill>
                  <a:srgbClr val="1E1B24"/>
                </a:solidFill>
              </a:rPr>
              <a:t>Instrument speed-to-lead and test SLAs, routing and self-scheduling, starting with 1–50 and 51–100.</a:t>
            </a:r>
            <a:endParaRPr lang="en-US" sz="1300" dirty="0"/>
          </a:p>
        </p:txBody>
      </p:sp>
      <p:sp>
        <p:nvSpPr>
          <p:cNvPr id="7" name="Badge 2"/>
          <p:cNvSpPr/>
          <p:nvPr/>
        </p:nvSpPr>
        <p:spPr>
          <a:xfrm>
            <a:off x="457200" y="2587752"/>
            <a:ext cx="411480" cy="411480"/>
          </a:xfrm>
          <a:prstGeom prst="ellipse">
            <a:avLst/>
          </a:prstGeom>
          <a:solidFill>
            <a:srgbClr val="4B1D3F"/>
          </a:solidFill>
          <a:ln w="12700">
            <a:solidFill>
              <a:srgbClr val="4B1D3F"/>
            </a:solidFill>
            <a:prstDash val="solid"/>
          </a:ln>
        </p:spPr>
      </p:sp>
      <p:sp>
        <p:nvSpPr>
          <p:cNvPr id="8" name="Text 6"/>
          <p:cNvSpPr txBox="1"/>
          <p:nvPr/>
        </p:nvSpPr>
        <p:spPr>
          <a:xfrm>
            <a:off x="457200" y="258775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005840" y="2542032"/>
            <a:ext cx="5120640" cy="365760"/>
          </a:xfrm>
          <a:prstGeom prst="rect">
            <a:avLst/>
          </a:prstGeom>
          <a:noFill/>
          <a:ln/>
        </p:spPr>
        <p:txBody>
          <a:bodyPr wrap="square" lIns="0" tIns="0" rIns="0" bIns="0" rtlCol="0" anchor="ctr"/>
          <a:lstStyle/>
          <a:p>
            <a:pPr indent="0" marL="0">
              <a:buNone/>
            </a:pPr>
            <a:r>
              <a:rPr lang="en-US" sz="1500" b="1" dirty="0">
                <a:solidFill>
                  <a:srgbClr val="4B1D3F"/>
                </a:solidFill>
              </a:rPr>
              <a:t>Organize into four segments and three motions</a:t>
            </a:r>
            <a:endParaRPr lang="en-US" sz="1500" dirty="0"/>
          </a:p>
        </p:txBody>
      </p:sp>
      <p:sp>
        <p:nvSpPr>
          <p:cNvPr id="10" name="Text 8"/>
          <p:cNvSpPr txBox="1"/>
          <p:nvPr/>
        </p:nvSpPr>
        <p:spPr>
          <a:xfrm>
            <a:off x="1005840" y="2907792"/>
            <a:ext cx="5120640" cy="731520"/>
          </a:xfrm>
          <a:prstGeom prst="rect">
            <a:avLst/>
          </a:prstGeom>
          <a:noFill/>
          <a:ln/>
        </p:spPr>
        <p:txBody>
          <a:bodyPr wrap="square" lIns="0" tIns="0" rIns="0" bIns="0" rtlCol="0" anchor="t"/>
          <a:lstStyle/>
          <a:p>
            <a:pPr indent="0" marL="0">
              <a:buNone/>
            </a:pPr>
            <a:r>
              <a:rPr lang="en-US" sz="1300" dirty="0">
                <a:solidFill>
                  <a:srgbClr val="1E1B24"/>
                </a:solidFill>
              </a:rPr>
              <a:t>Dedicated AE teams by segment; route 51–100 leads first; one shared SC pool below 500 employees.</a:t>
            </a:r>
            <a:endParaRPr lang="en-US" sz="1300" dirty="0"/>
          </a:p>
        </p:txBody>
      </p:sp>
      <p:sp>
        <p:nvSpPr>
          <p:cNvPr id="11" name="Badge 3"/>
          <p:cNvSpPr/>
          <p:nvPr/>
        </p:nvSpPr>
        <p:spPr>
          <a:xfrm>
            <a:off x="457200" y="3803904"/>
            <a:ext cx="411480" cy="411480"/>
          </a:xfrm>
          <a:prstGeom prst="ellipse">
            <a:avLst/>
          </a:prstGeom>
          <a:solidFill>
            <a:srgbClr val="4B1D3F"/>
          </a:solidFill>
          <a:ln w="12700">
            <a:solidFill>
              <a:srgbClr val="4B1D3F"/>
            </a:solidFill>
            <a:prstDash val="solid"/>
          </a:ln>
        </p:spPr>
      </p:sp>
      <p:sp>
        <p:nvSpPr>
          <p:cNvPr id="12" name="Text 10"/>
          <p:cNvSpPr txBox="1"/>
          <p:nvPr/>
        </p:nvSpPr>
        <p:spPr>
          <a:xfrm>
            <a:off x="457200" y="380390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Text 11"/>
          <p:cNvSpPr txBox="1"/>
          <p:nvPr/>
        </p:nvSpPr>
        <p:spPr>
          <a:xfrm>
            <a:off x="1005840" y="3758184"/>
            <a:ext cx="5120640" cy="365760"/>
          </a:xfrm>
          <a:prstGeom prst="rect">
            <a:avLst/>
          </a:prstGeom>
          <a:noFill/>
          <a:ln/>
        </p:spPr>
        <p:txBody>
          <a:bodyPr wrap="square" lIns="0" tIns="0" rIns="0" bIns="0" rtlCol="0" anchor="ctr"/>
          <a:lstStyle/>
          <a:p>
            <a:pPr indent="0" marL="0">
              <a:buNone/>
            </a:pPr>
            <a:r>
              <a:rPr lang="en-US" sz="1500" b="1" dirty="0">
                <a:solidFill>
                  <a:srgbClr val="4B1D3F"/>
                </a:solidFill>
              </a:rPr>
              <a:t>Staff to 49 roles of required capacity</a:t>
            </a:r>
            <a:endParaRPr lang="en-US" sz="1500" dirty="0"/>
          </a:p>
        </p:txBody>
      </p:sp>
      <p:sp>
        <p:nvSpPr>
          <p:cNvPr id="14" name="Text 12"/>
          <p:cNvSpPr txBox="1"/>
          <p:nvPr/>
        </p:nvSpPr>
        <p:spPr>
          <a:xfrm>
            <a:off x="1005840" y="4123944"/>
            <a:ext cx="5120640" cy="731520"/>
          </a:xfrm>
          <a:prstGeom prst="rect">
            <a:avLst/>
          </a:prstGeom>
          <a:noFill/>
          <a:ln/>
        </p:spPr>
        <p:txBody>
          <a:bodyPr wrap="square" lIns="0" tIns="0" rIns="0" bIns="0" rtlCol="0" anchor="t"/>
          <a:lstStyle/>
          <a:p>
            <a:pPr indent="0" marL="0">
              <a:buNone/>
            </a:pPr>
            <a:r>
              <a:rPr lang="en-US" sz="1300" dirty="0">
                <a:solidFill>
                  <a:srgbClr val="1E1B24"/>
                </a:solidFill>
              </a:rPr>
              <a:t>Compare with current headcount and hire only the gap. Add the upside AE only if lead→demo recovers.</a:t>
            </a:r>
            <a:endParaRPr lang="en-US" sz="1300" dirty="0"/>
          </a:p>
        </p:txBody>
      </p:sp>
      <p:sp>
        <p:nvSpPr>
          <p:cNvPr id="15" name="Badge 4"/>
          <p:cNvSpPr/>
          <p:nvPr/>
        </p:nvSpPr>
        <p:spPr>
          <a:xfrm>
            <a:off x="457200" y="5020056"/>
            <a:ext cx="411480" cy="411480"/>
          </a:xfrm>
          <a:prstGeom prst="ellipse">
            <a:avLst/>
          </a:prstGeom>
          <a:solidFill>
            <a:srgbClr val="4B1D3F"/>
          </a:solidFill>
          <a:ln w="12700">
            <a:solidFill>
              <a:srgbClr val="4B1D3F"/>
            </a:solidFill>
            <a:prstDash val="solid"/>
          </a:ln>
        </p:spPr>
      </p:sp>
      <p:sp>
        <p:nvSpPr>
          <p:cNvPr id="16" name="Text 14"/>
          <p:cNvSpPr txBox="1"/>
          <p:nvPr/>
        </p:nvSpPr>
        <p:spPr>
          <a:xfrm>
            <a:off x="457200" y="502005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7" name="Text 15"/>
          <p:cNvSpPr txBox="1"/>
          <p:nvPr/>
        </p:nvSpPr>
        <p:spPr>
          <a:xfrm>
            <a:off x="1005840" y="4974336"/>
            <a:ext cx="5120640" cy="365760"/>
          </a:xfrm>
          <a:prstGeom prst="rect">
            <a:avLst/>
          </a:prstGeom>
          <a:noFill/>
          <a:ln/>
        </p:spPr>
        <p:txBody>
          <a:bodyPr wrap="square" lIns="0" tIns="0" rIns="0" bIns="0" rtlCol="0" anchor="ctr"/>
          <a:lstStyle/>
          <a:p>
            <a:pPr indent="0" marL="0">
              <a:buNone/>
            </a:pPr>
            <a:r>
              <a:rPr lang="en-US" sz="1500" b="1" dirty="0">
                <a:solidFill>
                  <a:srgbClr val="4B1D3F"/>
                </a:solidFill>
              </a:rPr>
              <a:t>Invest upmarket with discipline</a:t>
            </a:r>
            <a:endParaRPr lang="en-US" sz="1500" dirty="0"/>
          </a:p>
        </p:txBody>
      </p:sp>
      <p:sp>
        <p:nvSpPr>
          <p:cNvPr id="18" name="Text 16"/>
          <p:cNvSpPr txBox="1"/>
          <p:nvPr/>
        </p:nvSpPr>
        <p:spPr>
          <a:xfrm>
            <a:off x="1005840" y="5340096"/>
            <a:ext cx="5120640" cy="731520"/>
          </a:xfrm>
          <a:prstGeom prst="rect">
            <a:avLst/>
          </a:prstGeom>
          <a:noFill/>
          <a:ln/>
        </p:spPr>
        <p:txBody>
          <a:bodyPr wrap="square" lIns="0" tIns="0" rIns="0" bIns="0" rtlCol="0" anchor="t"/>
          <a:lstStyle/>
          <a:p>
            <a:pPr indent="0" marL="0">
              <a:buNone/>
            </a:pPr>
            <a:r>
              <a:rPr lang="en-US" sz="1300" dirty="0">
                <a:solidFill>
                  <a:srgbClr val="1E1B24"/>
                </a:solidFill>
              </a:rPr>
              <a:t>SC on every Enterprise deal; hold Enterprise expansion until win rates improve. No new headcount for 1–10.</a:t>
            </a:r>
            <a:endParaRPr lang="en-US" sz="1300" dirty="0"/>
          </a:p>
        </p:txBody>
      </p:sp>
      <p:sp>
        <p:nvSpPr>
          <p:cNvPr id="19" name="Plan 30 days: diagnose"/>
          <p:cNvSpPr/>
          <p:nvPr/>
        </p:nvSpPr>
        <p:spPr>
          <a:xfrm>
            <a:off x="6400800" y="1325880"/>
            <a:ext cx="5330952" cy="1481328"/>
          </a:xfrm>
          <a:prstGeom prst="rect">
            <a:avLst/>
          </a:prstGeom>
          <a:solidFill>
            <a:srgbClr val="F3EFF2"/>
          </a:solidFill>
          <a:ln w="12700">
            <a:solidFill>
              <a:srgbClr val="F3EFF2"/>
            </a:solidFill>
            <a:prstDash val="solid"/>
          </a:ln>
        </p:spPr>
      </p:sp>
      <p:sp>
        <p:nvSpPr>
          <p:cNvPr id="20" name="Text 18"/>
          <p:cNvSpPr txBox="1"/>
          <p:nvPr/>
        </p:nvSpPr>
        <p:spPr>
          <a:xfrm>
            <a:off x="6537960" y="1399032"/>
            <a:ext cx="5074920" cy="320040"/>
          </a:xfrm>
          <a:prstGeom prst="rect">
            <a:avLst/>
          </a:prstGeom>
          <a:noFill/>
          <a:ln/>
        </p:spPr>
        <p:txBody>
          <a:bodyPr wrap="square" lIns="0" tIns="0" rIns="0" bIns="0" rtlCol="0" anchor="ctr"/>
          <a:lstStyle/>
          <a:p>
            <a:pPr indent="0" marL="0">
              <a:buNone/>
            </a:pPr>
            <a:r>
              <a:rPr lang="en-US" sz="1400" b="1" dirty="0">
                <a:solidFill>
                  <a:srgbClr val="4B1D3F"/>
                </a:solidFill>
              </a:rPr>
              <a:t>30 days: diagnose</a:t>
            </a:r>
            <a:pPr indent="0" marL="0">
              <a:buNone/>
            </a:pPr>
            <a:r>
              <a:rPr lang="en-US" sz="1400" dirty="0">
                <a:solidFill>
                  <a:srgbClr val="6B6470"/>
                </a:solidFill>
              </a:rPr>
              <a:t>   Owner: RevOps + Marketing Ops</a:t>
            </a:r>
            <a:endParaRPr lang="en-US" sz="1400" dirty="0"/>
          </a:p>
        </p:txBody>
      </p:sp>
      <p:sp>
        <p:nvSpPr>
          <p:cNvPr id="21" name="Text 19"/>
          <p:cNvSpPr txBox="1"/>
          <p:nvPr/>
        </p:nvSpPr>
        <p:spPr>
          <a:xfrm>
            <a:off x="6537960" y="1737360"/>
            <a:ext cx="5074920" cy="685800"/>
          </a:xfrm>
          <a:prstGeom prst="rect">
            <a:avLst/>
          </a:prstGeom>
          <a:noFill/>
          <a:ln/>
        </p:spPr>
        <p:txBody>
          <a:bodyPr wrap="square" lIns="0" tIns="0" rIns="0" bIns="0" rtlCol="0" anchor="t"/>
          <a:lstStyle/>
          <a:p>
            <a:pPr indent="0" marL="0">
              <a:buNone/>
            </a:pPr>
            <a:r>
              <a:rPr lang="en-US" sz="1200" dirty="0">
                <a:solidFill>
                  <a:srgbClr val="1E1B24"/>
                </a:solidFill>
              </a:rPr>
              <a:t>Instrument speed-to-lead and lead→demo by segment and source; audit a sample of leads that never booked; launch four-segment routing.</a:t>
            </a:r>
            <a:endParaRPr lang="en-US" sz="1200" dirty="0"/>
          </a:p>
        </p:txBody>
      </p:sp>
      <p:sp>
        <p:nvSpPr>
          <p:cNvPr id="22" name="Text 20"/>
          <p:cNvSpPr txBox="1"/>
          <p:nvPr/>
        </p:nvSpPr>
        <p:spPr>
          <a:xfrm>
            <a:off x="6537960" y="2423160"/>
            <a:ext cx="5074920" cy="320040"/>
          </a:xfrm>
          <a:prstGeom prst="rect">
            <a:avLst/>
          </a:prstGeom>
          <a:noFill/>
          <a:ln/>
        </p:spPr>
        <p:txBody>
          <a:bodyPr wrap="square" lIns="0" tIns="0" rIns="0" bIns="0" rtlCol="0" anchor="ctr"/>
          <a:lstStyle/>
          <a:p>
            <a:pPr indent="0" marL="0">
              <a:buNone/>
            </a:pPr>
            <a:r>
              <a:rPr lang="en-US" sz="1200" i="1" dirty="0">
                <a:solidFill>
                  <a:srgbClr val="2E7D6B"/>
                </a:solidFill>
              </a:rPr>
              <a:t>KPI: first-touch time; weekly lead→demo by segment</a:t>
            </a:r>
            <a:endParaRPr lang="en-US" sz="1200" dirty="0"/>
          </a:p>
        </p:txBody>
      </p:sp>
      <p:sp>
        <p:nvSpPr>
          <p:cNvPr id="23" name="Plan 60 days: pilot"/>
          <p:cNvSpPr/>
          <p:nvPr/>
        </p:nvSpPr>
        <p:spPr>
          <a:xfrm>
            <a:off x="6400800" y="2953512"/>
            <a:ext cx="5330952" cy="1481328"/>
          </a:xfrm>
          <a:prstGeom prst="rect">
            <a:avLst/>
          </a:prstGeom>
          <a:solidFill>
            <a:srgbClr val="F3EFF2"/>
          </a:solidFill>
          <a:ln w="12700">
            <a:solidFill>
              <a:srgbClr val="F3EFF2"/>
            </a:solidFill>
            <a:prstDash val="solid"/>
          </a:ln>
        </p:spPr>
      </p:sp>
      <p:sp>
        <p:nvSpPr>
          <p:cNvPr id="24" name="Text 22"/>
          <p:cNvSpPr txBox="1"/>
          <p:nvPr/>
        </p:nvSpPr>
        <p:spPr>
          <a:xfrm>
            <a:off x="6537960" y="3026664"/>
            <a:ext cx="5074920" cy="320040"/>
          </a:xfrm>
          <a:prstGeom prst="rect">
            <a:avLst/>
          </a:prstGeom>
          <a:noFill/>
          <a:ln/>
        </p:spPr>
        <p:txBody>
          <a:bodyPr wrap="square" lIns="0" tIns="0" rIns="0" bIns="0" rtlCol="0" anchor="ctr"/>
          <a:lstStyle/>
          <a:p>
            <a:pPr indent="0" marL="0">
              <a:buNone/>
            </a:pPr>
            <a:r>
              <a:rPr lang="en-US" sz="1400" b="1" dirty="0">
                <a:solidFill>
                  <a:srgbClr val="4B1D3F"/>
                </a:solidFill>
              </a:rPr>
              <a:t>60 days: pilot</a:t>
            </a:r>
            <a:pPr indent="0" marL="0">
              <a:buNone/>
            </a:pPr>
            <a:r>
              <a:rPr lang="en-US" sz="1400" dirty="0">
                <a:solidFill>
                  <a:srgbClr val="6B6470"/>
                </a:solidFill>
              </a:rPr>
              <a:t>   Owner: Sales + SDR leadership</a:t>
            </a:r>
            <a:endParaRPr lang="en-US" sz="1400" dirty="0"/>
          </a:p>
        </p:txBody>
      </p:sp>
      <p:sp>
        <p:nvSpPr>
          <p:cNvPr id="25" name="Text 23"/>
          <p:cNvSpPr txBox="1"/>
          <p:nvPr/>
        </p:nvSpPr>
        <p:spPr>
          <a:xfrm>
            <a:off x="6537960" y="3364992"/>
            <a:ext cx="5074920" cy="685800"/>
          </a:xfrm>
          <a:prstGeom prst="rect">
            <a:avLst/>
          </a:prstGeom>
          <a:noFill/>
          <a:ln/>
        </p:spPr>
        <p:txBody>
          <a:bodyPr wrap="square" lIns="0" tIns="0" rIns="0" bIns="0" rtlCol="0" anchor="t"/>
          <a:lstStyle/>
          <a:p>
            <a:pPr indent="0" marL="0">
              <a:buNone/>
            </a:pPr>
            <a:r>
              <a:rPr lang="en-US" sz="1200" dirty="0">
                <a:solidFill>
                  <a:srgbClr val="1E1B24"/>
                </a:solidFill>
              </a:rPr>
              <a:t>Run a speed-to-lead SLA and self-scheduling pilot vs control in 1–50 and 51–100; set SC engagement rules for Core MM and Enterprise.</a:t>
            </a:r>
            <a:endParaRPr lang="en-US" sz="1200" dirty="0"/>
          </a:p>
        </p:txBody>
      </p:sp>
      <p:sp>
        <p:nvSpPr>
          <p:cNvPr id="26" name="Text 24"/>
          <p:cNvSpPr txBox="1"/>
          <p:nvPr/>
        </p:nvSpPr>
        <p:spPr>
          <a:xfrm>
            <a:off x="6537960" y="4050792"/>
            <a:ext cx="5074920" cy="320040"/>
          </a:xfrm>
          <a:prstGeom prst="rect">
            <a:avLst/>
          </a:prstGeom>
          <a:noFill/>
          <a:ln/>
        </p:spPr>
        <p:txBody>
          <a:bodyPr wrap="square" lIns="0" tIns="0" rIns="0" bIns="0" rtlCol="0" anchor="ctr"/>
          <a:lstStyle/>
          <a:p>
            <a:pPr indent="0" marL="0">
              <a:buNone/>
            </a:pPr>
            <a:r>
              <a:rPr lang="en-US" sz="1200" i="1" dirty="0">
                <a:solidFill>
                  <a:srgbClr val="2E7D6B"/>
                </a:solidFill>
              </a:rPr>
              <a:t>KPI: lead→demo vs Feb–Jul level; demo show rate</a:t>
            </a:r>
            <a:endParaRPr lang="en-US" sz="1200" dirty="0"/>
          </a:p>
        </p:txBody>
      </p:sp>
      <p:sp>
        <p:nvSpPr>
          <p:cNvPr id="27" name="Plan 90 days: decide"/>
          <p:cNvSpPr/>
          <p:nvPr/>
        </p:nvSpPr>
        <p:spPr>
          <a:xfrm>
            <a:off x="6400800" y="4581144"/>
            <a:ext cx="5330952" cy="1481328"/>
          </a:xfrm>
          <a:prstGeom prst="rect">
            <a:avLst/>
          </a:prstGeom>
          <a:solidFill>
            <a:srgbClr val="F3EFF2"/>
          </a:solidFill>
          <a:ln w="12700">
            <a:solidFill>
              <a:srgbClr val="F3EFF2"/>
            </a:solidFill>
            <a:prstDash val="solid"/>
          </a:ln>
        </p:spPr>
      </p:sp>
      <p:sp>
        <p:nvSpPr>
          <p:cNvPr id="28" name="Text 26"/>
          <p:cNvSpPr txBox="1"/>
          <p:nvPr/>
        </p:nvSpPr>
        <p:spPr>
          <a:xfrm>
            <a:off x="6537960" y="4654296"/>
            <a:ext cx="5074920" cy="320040"/>
          </a:xfrm>
          <a:prstGeom prst="rect">
            <a:avLst/>
          </a:prstGeom>
          <a:noFill/>
          <a:ln/>
        </p:spPr>
        <p:txBody>
          <a:bodyPr wrap="square" lIns="0" tIns="0" rIns="0" bIns="0" rtlCol="0" anchor="ctr"/>
          <a:lstStyle/>
          <a:p>
            <a:pPr indent="0" marL="0">
              <a:buNone/>
            </a:pPr>
            <a:r>
              <a:rPr lang="en-US" sz="1400" b="1" dirty="0">
                <a:solidFill>
                  <a:srgbClr val="4B1D3F"/>
                </a:solidFill>
              </a:rPr>
              <a:t>90 days: decide</a:t>
            </a:r>
            <a:pPr indent="0" marL="0">
              <a:buNone/>
            </a:pPr>
            <a:r>
              <a:rPr lang="en-US" sz="1400" dirty="0">
                <a:solidFill>
                  <a:srgbClr val="6B6470"/>
                </a:solidFill>
              </a:rPr>
              <a:t>   Owner: CRO + Finance + RevOps</a:t>
            </a:r>
            <a:endParaRPr lang="en-US" sz="1400" dirty="0"/>
          </a:p>
        </p:txBody>
      </p:sp>
      <p:sp>
        <p:nvSpPr>
          <p:cNvPr id="29" name="Text 27"/>
          <p:cNvSpPr txBox="1"/>
          <p:nvPr/>
        </p:nvSpPr>
        <p:spPr>
          <a:xfrm>
            <a:off x="6537960" y="4992624"/>
            <a:ext cx="5074920" cy="685800"/>
          </a:xfrm>
          <a:prstGeom prst="rect">
            <a:avLst/>
          </a:prstGeom>
          <a:noFill/>
          <a:ln/>
        </p:spPr>
        <p:txBody>
          <a:bodyPr wrap="square" lIns="0" tIns="0" rIns="0" bIns="0" rtlCol="0" anchor="t"/>
          <a:lstStyle/>
          <a:p>
            <a:pPr indent="0" marL="0">
              <a:buNone/>
            </a:pPr>
            <a:r>
              <a:rPr lang="en-US" sz="1200" dirty="0">
                <a:solidFill>
                  <a:srgbClr val="1E1B24"/>
                </a:solidFill>
              </a:rPr>
              <a:t>Compare current headcount to required capacity; hire the gap where the pilot shows lift; set quotas by segment; review Enterprise win rate.</a:t>
            </a:r>
            <a:endParaRPr lang="en-US" sz="1200" dirty="0"/>
          </a:p>
        </p:txBody>
      </p:sp>
      <p:sp>
        <p:nvSpPr>
          <p:cNvPr id="30" name="Text 28"/>
          <p:cNvSpPr txBox="1"/>
          <p:nvPr/>
        </p:nvSpPr>
        <p:spPr>
          <a:xfrm>
            <a:off x="6537960" y="5678424"/>
            <a:ext cx="5074920" cy="320040"/>
          </a:xfrm>
          <a:prstGeom prst="rect">
            <a:avLst/>
          </a:prstGeom>
          <a:noFill/>
          <a:ln/>
        </p:spPr>
        <p:txBody>
          <a:bodyPr wrap="square" lIns="0" tIns="0" rIns="0" bIns="0" rtlCol="0" anchor="ctr"/>
          <a:lstStyle/>
          <a:p>
            <a:pPr indent="0" marL="0">
              <a:buNone/>
            </a:pPr>
            <a:r>
              <a:rPr lang="en-US" sz="1200" i="1" dirty="0">
                <a:solidFill>
                  <a:srgbClr val="2E7D6B"/>
                </a:solidFill>
              </a:rPr>
              <a:t>KPI: lead→demo, opp→win, ARR per AE by segment</a:t>
            </a:r>
            <a:endParaRPr lang="en-US" sz="1200" dirty="0"/>
          </a:p>
        </p:txBody>
      </p:sp>
      <p:sp>
        <p:nvSpPr>
          <p:cNvPr id="31"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Owners and KPIs are proposals for discussion. Targets should be set once the 30-day diagnostic establishes current baselines.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Appendix</a:t>
            </a:r>
            <a:endParaRPr lang="en-US" sz="4000" dirty="0"/>
          </a:p>
        </p:txBody>
      </p:sp>
      <p:sp>
        <p:nvSpPr>
          <p:cNvPr id="3" name="Text 0"/>
          <p:cNvSpPr/>
          <p:nvPr>
            <p:ph idx="101" type="body" hasCustomPrompt="1"/>
          </p:nvPr>
        </p:nvSpPr>
        <p:spPr>
          <a:xfrm>
            <a:off x="731520" y="3749040"/>
            <a:ext cx="10698480" cy="1097280"/>
          </a:xfrm>
          <a:prstGeom prst="rect">
            <a:avLst/>
          </a:prstGeom>
          <a:noFill/>
          <a:ln/>
        </p:spPr>
        <p:txBody>
          <a:bodyPr wrap="square" lIns="0" tIns="0" rIns="0" bIns="0" rtlCol="0" anchor="t"/>
          <a:lstStyle/>
          <a:p>
            <a:pPr indent="0" marL="0">
              <a:buNone/>
            </a:pPr>
            <a:r>
              <a:rPr lang="en-US" sz="1800" dirty="0">
                <a:solidFill>
                  <a:srgbClr val="E9DDE5"/>
                </a:solidFill>
              </a:rPr>
              <a:t>A1 Assumptions and formulas  ·  A2 Staffing calculation  ·  A3 Funnel by bucket  ·  A4 Segmentation options  ·  A5 Illustrative cost  ·  A6 Data notes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A1. Five staffing assumptions drive the model; all are illustrative and editable</a:t>
            </a:r>
            <a:endParaRPr lang="en-US" sz="2600" dirty="0"/>
          </a:p>
        </p:txBody>
      </p:sp>
      <p:graphicFrame>
        <p:nvGraphicFramePr>
          <p:cNvPr id="11" name="Assumptions table"/>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1417320"/>
                <a:gridCol w="1417320"/>
                <a:gridCol w="1417320"/>
                <a:gridCol w="1417320"/>
                <a:gridCol w="2862072"/>
              </a:tblGrid>
              <a:tr h="438912">
                <a:tc>
                  <a:txBody>
                    <a:bodyPr/>
                    <a:lstStyle/>
                    <a:p>
                      <a:pPr algn="ctr" indent="0" marL="0">
                        <a:buNone/>
                      </a:pPr>
                      <a:r>
                        <a:rPr lang="en-US" sz="1300" b="1" dirty="0">
                          <a:solidFill>
                            <a:srgbClr val="FFFFFF"/>
                          </a:solidFill>
                        </a:rPr>
                        <a:t>Assumption (per ramped person per month)</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Velocity 1–50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Emerging MM 51–100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Core MM 101–500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Enterprise 501+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Rationale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438912">
                <a:tc>
                  <a:txBody>
                    <a:bodyPr/>
                    <a:lstStyle/>
                    <a:p>
                      <a:pPr algn="ctr" indent="0" marL="0">
                        <a:buNone/>
                      </a:pPr>
                      <a:r>
                        <a:rPr lang="en-US" sz="1300" dirty="0">
                          <a:solidFill>
                            <a:srgbClr val="1E1B24"/>
                          </a:solidFill>
                        </a:rPr>
                        <a:t>SDR lead capacity</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175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125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Bigger accounts need more research per lead</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38912">
                <a:tc>
                  <a:txBody>
                    <a:bodyPr/>
                    <a:lstStyle/>
                    <a:p>
                      <a:pPr algn="ctr" indent="0" marL="0">
                        <a:buNone/>
                      </a:pPr>
                      <a:r>
                        <a:rPr lang="en-US" sz="1300" dirty="0">
                          <a:solidFill>
                            <a:srgbClr val="1E1B24"/>
                          </a:solidFill>
                        </a:rPr>
                        <a:t>AE demo capacity</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45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12</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Enterprise demos are multi-session</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38912">
                <a:tc>
                  <a:txBody>
                    <a:bodyPr/>
                    <a:lstStyle/>
                    <a:p>
                      <a:pPr algn="ctr" indent="0" marL="0">
                        <a:buNone/>
                      </a:pPr>
                      <a:r>
                        <a:rPr lang="en-US" sz="1300" dirty="0">
                          <a:solidFill>
                            <a:srgbClr val="1E1B24"/>
                          </a:solidFill>
                        </a:rPr>
                        <a:t>SC engagement rate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50%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Rises with complexity in the data</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38912">
                <a:tc>
                  <a:txBody>
                    <a:bodyPr/>
                    <a:lstStyle/>
                    <a:p>
                      <a:pPr algn="ctr" indent="0" marL="0">
                        <a:buNone/>
                      </a:pPr>
                      <a:r>
                        <a:rPr lang="en-US" sz="1300" dirty="0">
                          <a:solidFill>
                            <a:srgbClr val="1E1B24"/>
                          </a:solidFill>
                        </a:rPr>
                        <a:t>SC engagement capacity</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30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Enterprise engagements are deeper</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38912">
                <a:tc>
                  <a:txBody>
                    <a:bodyPr/>
                    <a:lstStyle/>
                    <a:p>
                      <a:pPr algn="ctr" indent="0" marL="0">
                        <a:buNone/>
                      </a:pPr>
                      <a:r>
                        <a:rPr lang="en-US" sz="1300" dirty="0">
                          <a:solidFill>
                            <a:srgbClr val="1E1B24"/>
                          </a:solidFill>
                        </a:rPr>
                        <a:t>Target utilization</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85%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85%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85%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85%</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Buffer for PTO, training, spikes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4" name="Formula card"/>
          <p:cNvSpPr/>
          <p:nvPr/>
        </p:nvSpPr>
        <p:spPr>
          <a:xfrm>
            <a:off x="457200" y="4160520"/>
            <a:ext cx="11274552" cy="1600200"/>
          </a:xfrm>
          <a:prstGeom prst="rect">
            <a:avLst/>
          </a:prstGeom>
          <a:solidFill>
            <a:srgbClr val="F3EFF2"/>
          </a:solidFill>
          <a:ln w="12700">
            <a:solidFill>
              <a:srgbClr val="F3EFF2"/>
            </a:solidFill>
            <a:prstDash val="solid"/>
          </a:ln>
        </p:spPr>
      </p:sp>
      <p:sp>
        <p:nvSpPr>
          <p:cNvPr id="5" name="Text 2"/>
          <p:cNvSpPr txBox="1"/>
          <p:nvPr/>
        </p:nvSpPr>
        <p:spPr>
          <a:xfrm>
            <a:off x="640080" y="4251960"/>
            <a:ext cx="10927080" cy="1417320"/>
          </a:xfrm>
          <a:prstGeom prst="rect">
            <a:avLst/>
          </a:prstGeom>
          <a:noFill/>
          <a:ln/>
        </p:spPr>
        <p:txBody>
          <a:bodyPr wrap="square" lIns="0" tIns="0" rIns="0" bIns="0" rtlCol="0" anchor="t"/>
          <a:lstStyle/>
          <a:p>
            <a:pPr indent="0" marL="0">
              <a:spcAft>
                <a:spcPts val="400"/>
              </a:spcAft>
              <a:buNone/>
            </a:pPr>
            <a:r>
              <a:rPr lang="en-US" sz="1300" b="1" dirty="0">
                <a:solidFill>
                  <a:srgbClr val="4B1D3F"/>
                </a:solidFill>
              </a:rPr>
              <a:t>Formulas (Staffing tab)</a:t>
            </a:r>
            <a:endParaRPr lang="en-US" sz="1300" dirty="0"/>
          </a:p>
          <a:p>
            <a:pPr marL="342900" indent="-342900">
              <a:spcAft>
                <a:spcPts val="400"/>
              </a:spcAft>
              <a:buSzPct val="100000"/>
              <a:buChar char="•"/>
            </a:pPr>
            <a:r>
              <a:rPr lang="en-US" sz="1300" dirty="0">
                <a:solidFill>
                  <a:srgbClr val="1E1B24"/>
                </a:solidFill>
              </a:rPr>
              <a:t>Demand = average month of Aug–Oct 2021 by segment (Nov–Dec dip excluded; seen once, so not confirmed seasonality)</a:t>
            </a:r>
            <a:endParaRPr lang="en-US" sz="1300" dirty="0"/>
          </a:p>
          <a:p>
            <a:pPr marL="342900" indent="-342900">
              <a:spcAft>
                <a:spcPts val="400"/>
              </a:spcAft>
              <a:buSzPct val="100000"/>
              <a:buChar char="•"/>
            </a:pPr>
            <a:r>
              <a:rPr lang="en-US" sz="1300" dirty="0">
                <a:solidFill>
                  <a:srgbClr val="1E1B24"/>
                </a:solidFill>
              </a:rPr>
              <a:t>SDR FTE = leads ÷ (SDR capacity × utilization);  AE FTE = demos ÷ (AE capacity × utilization);  SC FTE = demos × SC rate ÷ (SC capacity × utilization)</a:t>
            </a:r>
            <a:endParaRPr lang="en-US" sz="1300" dirty="0"/>
          </a:p>
          <a:p>
            <a:pPr marL="342900" indent="-342900">
              <a:spcAft>
                <a:spcPts val="400"/>
              </a:spcAft>
              <a:buSzPct val="100000"/>
              <a:buChar char="•"/>
            </a:pPr>
            <a:r>
              <a:rPr lang="en-US" sz="1300" dirty="0">
                <a:solidFill>
                  <a:srgbClr val="1E1B24"/>
                </a:solidFill>
              </a:rPr>
              <a:t>Headcount = ROUNDUP per segment; shared SC pool (1–500) = ROUNDUP of combined FTE;  ARR = demos × demo→win × ARR per logo × 12</a:t>
            </a:r>
            <a:endParaRPr lang="en-US" sz="1300" dirty="0"/>
          </a:p>
          <a:p>
            <a:pPr marL="342900" indent="-342900">
              <a:spcAft>
                <a:spcPts val="400"/>
              </a:spcAft>
              <a:buSzPct val="100000"/>
              <a:buChar char="•"/>
            </a:pPr>
            <a:r>
              <a:rPr lang="en-US" sz="1300" dirty="0">
                <a:solidFill>
                  <a:srgbClr val="1E1B24"/>
                </a:solidFill>
              </a:rPr>
              <a:t>Most sensitive: AE demo capacity. At ±20% capacity, AE headcount ranges 22–34 (base 27).</a:t>
            </a:r>
            <a:endParaRPr lang="en-US" sz="1300" dirty="0"/>
          </a:p>
        </p:txBody>
      </p:sp>
      <p:sp>
        <p:nvSpPr>
          <p:cNvPr id="6"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Staffing assumptions are illustrative, not company data. Headcount = required capacity, not net-new hires (current headcount unknown).</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A2. Staffing calculation: demand → fractional FTE → recommended headcount, baseline and upside</a:t>
            </a:r>
            <a:endParaRPr lang="en-US" sz="2600" dirty="0"/>
          </a:p>
        </p:txBody>
      </p:sp>
      <p:graphicFrame>
        <p:nvGraphicFramePr>
          <p:cNvPr id="12" name="Calculation table"/>
          <p:cNvGraphicFramePr>
            <a:graphicFrameLocks noGrp="1"/>
          </p:cNvGraphicFramePr>
          <p:nvPr>
            <p:extLst>
              <p:ext uri="{D42A27DB-BD31-4B8C-83A1-F6EECF244321}">
                <p14:modId xmlns:p14="http://schemas.microsoft.com/office/powerpoint/2010/main" val="1579011935"/>
              </p:ext>
            </p:extLst>
          </p:nvPr>
        </p:nvGraphicFramePr>
        <p:xfrm>
          <a:off x="457200" y="1234440"/>
          <a:ext cx="11274552" cy="914400"/>
        </p:xfrm>
        <a:graphic>
          <a:graphicData uri="http://schemas.openxmlformats.org/drawingml/2006/table">
            <a:tbl>
              <a:tblPr/>
              <a:tblGrid>
                <a:gridCol w="2496312"/>
                <a:gridCol w="1755648"/>
                <a:gridCol w="1755648"/>
                <a:gridCol w="1755648"/>
                <a:gridCol w="1755648"/>
                <a:gridCol w="1755648"/>
              </a:tblGrid>
              <a:tr h="384048">
                <a:tc>
                  <a:txBody>
                    <a:bodyPr/>
                    <a:lstStyle/>
                    <a:p>
                      <a:pPr algn="ctr" indent="0" marL="0">
                        <a:buNone/>
                      </a:pPr>
                      <a:r>
                        <a:rPr lang="en-US" sz="1200" b="1" dirty="0">
                          <a:solidFill>
                            <a:srgbClr val="FFFFFF"/>
                          </a:solidFill>
                        </a:rPr>
                        <a:t>Line</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1–50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51–100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101–500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501+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Total</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384048">
                <a:tc>
                  <a:txBody>
                    <a:bodyPr/>
                    <a:lstStyle/>
                    <a:p>
                      <a:pPr algn="ctr" indent="0" marL="0">
                        <a:buNone/>
                      </a:pPr>
                      <a:r>
                        <a:rPr lang="en-US" sz="1200" dirty="0">
                          <a:solidFill>
                            <a:srgbClr val="1E1B24"/>
                          </a:solidFill>
                        </a:rPr>
                        <a:t>Leads / month</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352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308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708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343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1,711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Demos / month</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127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109</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182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65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483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Lead → demo</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36.0%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35.3%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25.7%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19.0%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28.2%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SDR FTE → headcount</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1.38 → 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1.81 → 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4.76 → 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3.23 → 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11.18 → 13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AE FTE → headcount</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3.32 → 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4.26 → 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10.69 → 11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6.41 → 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24.67 → 27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SC FTE → headcount</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gridSpan="3">
                  <a:txBody>
                    <a:bodyPr/>
                    <a:lstStyle/>
                    <a:p>
                      <a:pPr algn="ctr" indent="0" marL="0">
                        <a:buNone/>
                      </a:pPr>
                      <a:r>
                        <a:rPr lang="en-US" sz="1200" dirty="0">
                          <a:solidFill>
                            <a:srgbClr val="1E1B24"/>
                          </a:solidFill>
                        </a:rPr>
                        <a:t>4.45 → 5 (pool)</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hMerge="1">
                  <a:tcPr/>
                </a:tc>
                <a:tc hMerge="1">
                  <a:tcPr/>
                </a:tc>
                <a:tc>
                  <a:txBody>
                    <a:bodyPr/>
                    <a:lstStyle/>
                    <a:p>
                      <a:pPr algn="ctr" indent="0" marL="0">
                        <a:buNone/>
                      </a:pPr>
                      <a:r>
                        <a:rPr lang="en-US" sz="1200" dirty="0">
                          <a:solidFill>
                            <a:srgbClr val="1E1B24"/>
                          </a:solidFill>
                        </a:rPr>
                        <a:t>3.84 → 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8.29 → 9</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AE utilization at headcount</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83%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Upside lead → demo</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39.6%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39.0%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27.5%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19.0%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30.3%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Upside AE FTE → headcount</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3.64 → 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4.70 → 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11.44 → 12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6.41 → 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26.19 → 28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Upside SC headcount</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gridSpan="3">
                  <a:txBody>
                    <a:bodyPr/>
                    <a:lstStyle/>
                    <a:p>
                      <a:pPr algn="ctr" indent="0" marL="0">
                        <a:buNone/>
                      </a:pPr>
                      <a:r>
                        <a:rPr lang="en-US" sz="1200" dirty="0">
                          <a:solidFill>
                            <a:srgbClr val="1E1B24"/>
                          </a:solidFill>
                        </a:rPr>
                        <a:t>5 (pool)</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hMerge="1">
                  <a:tcPr/>
                </a:tc>
                <a:tc hMerge="1">
                  <a:tcPr/>
                </a:tc>
                <a:tc>
                  <a:txBody>
                    <a:bodyPr/>
                    <a:lstStyle/>
                    <a:p>
                      <a:pPr algn="ctr" indent="0" marL="0">
                        <a:buNone/>
                      </a:pPr>
                      <a:r>
                        <a:rPr lang="en-US" sz="1200" dirty="0">
                          <a:solidFill>
                            <a:srgbClr val="1E1B24"/>
                          </a:solidFill>
                        </a:rPr>
                        <a:t>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9</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ARR: baseline → upside</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$1.56M → $1.71M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$3.34M → $3.69M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$5.09M → $5.45M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$2.31M → $2.31M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$12.31M → $13.17M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4"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Illustrative assumptions. Upside total: 50 roles; SDRs unchanged because they are sized to leads.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A3. Twelve-month funnel by employee bucket: conversion breaks at 100 and 500, deal size at 50</a:t>
            </a:r>
            <a:endParaRPr lang="en-US" sz="2600" dirty="0"/>
          </a:p>
        </p:txBody>
      </p:sp>
      <p:graphicFrame>
        <p:nvGraphicFramePr>
          <p:cNvPr id="13" name="Bucket funnel table"/>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868680"/>
                <a:gridCol w="777240"/>
                <a:gridCol w="777240"/>
                <a:gridCol w="777240"/>
                <a:gridCol w="731520"/>
                <a:gridCol w="868680"/>
                <a:gridCol w="960120"/>
                <a:gridCol w="960120"/>
                <a:gridCol w="868680"/>
                <a:gridCol w="868680"/>
                <a:gridCol w="914400"/>
                <a:gridCol w="914400"/>
                <a:gridCol w="987552"/>
              </a:tblGrid>
              <a:tr h="384048">
                <a:tc>
                  <a:txBody>
                    <a:bodyPr/>
                    <a:lstStyle/>
                    <a:p>
                      <a:pPr algn="ctr" indent="0" marL="0">
                        <a:buNone/>
                      </a:pPr>
                      <a:r>
                        <a:rPr lang="en-US" sz="1200" b="1" dirty="0">
                          <a:solidFill>
                            <a:srgbClr val="FFFFFF"/>
                          </a:solidFill>
                        </a:rPr>
                        <a:t>Bucket</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Leads</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Demos</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Opps</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Logos</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ARR</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Lead→</a:t>
                      </a:r>
                      <a:endParaRPr lang="en-US" sz="1200" dirty="0"/>
                    </a:p>
                    <a:p>
                      <a:pPr algn="ctr" indent="0" marL="0">
                        <a:buNone/>
                      </a:pPr>
                      <a:r>
                        <a:rPr lang="en-US" sz="1200" b="1" dirty="0">
                          <a:solidFill>
                            <a:srgbClr val="FFFFFF"/>
                          </a:solidFill>
                        </a:rPr>
                        <a:t>demo</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Demo→</a:t>
                      </a:r>
                      <a:endParaRPr lang="en-US" sz="1200" dirty="0"/>
                    </a:p>
                    <a:p>
                      <a:pPr algn="ctr" indent="0" marL="0">
                        <a:buNone/>
                      </a:pPr>
                      <a:r>
                        <a:rPr lang="en-US" sz="1200" b="1" dirty="0">
                          <a:solidFill>
                            <a:srgbClr val="FFFFFF"/>
                          </a:solidFill>
                        </a:rPr>
                        <a:t>opp</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Opp→</a:t>
                      </a:r>
                      <a:endParaRPr lang="en-US" sz="1200" dirty="0"/>
                    </a:p>
                    <a:p>
                      <a:pPr algn="ctr" indent="0" marL="0">
                        <a:buNone/>
                      </a:pPr>
                      <a:r>
                        <a:rPr lang="en-US" sz="1200" b="1" dirty="0">
                          <a:solidFill>
                            <a:srgbClr val="FFFFFF"/>
                          </a:solidFill>
                        </a:rPr>
                        <a:t>win</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Lead→</a:t>
                      </a:r>
                      <a:endParaRPr lang="en-US" sz="1200" dirty="0"/>
                    </a:p>
                    <a:p>
                      <a:pPr algn="ctr" indent="0" marL="0">
                        <a:buNone/>
                      </a:pPr>
                      <a:r>
                        <a:rPr lang="en-US" sz="1200" b="1" dirty="0">
                          <a:solidFill>
                            <a:srgbClr val="FFFFFF"/>
                          </a:solidFill>
                        </a:rPr>
                        <a:t>win</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ARR/logo</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ARR/lead</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200" b="1" dirty="0">
                          <a:solidFill>
                            <a:srgbClr val="FFFFFF"/>
                          </a:solidFill>
                        </a:rPr>
                        <a:t>ARR share</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384048">
                <a:tc>
                  <a:txBody>
                    <a:bodyPr/>
                    <a:lstStyle/>
                    <a:p>
                      <a:pPr algn="ctr" indent="0" marL="0">
                        <a:buNone/>
                      </a:pPr>
                      <a:r>
                        <a:rPr lang="en-US" sz="1200" dirty="0">
                          <a:solidFill>
                            <a:srgbClr val="1E1B24"/>
                          </a:solidFill>
                        </a:rPr>
                        <a:t>1-10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1,180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437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351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118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$0.35M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37.0%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80.3%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33.6%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10.0%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$2,987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$299</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11-50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2,529</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936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745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253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$1.02M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37.0%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79.6%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34.0%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10.0%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$4,014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$402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10.1%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51-100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3,246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1,163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926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312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$2.91M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35.8%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79.6%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33.7%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9.6%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$9,313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$895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28.9%</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101-500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6,962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1,807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1,264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321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$4.00M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26.0%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70.0%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25.4%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4.6%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$12,461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$575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39.8%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dirty="0">
                          <a:solidFill>
                            <a:srgbClr val="1E1B24"/>
                          </a:solidFill>
                        </a:rPr>
                        <a:t>501+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3,235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608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396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78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$1.77M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18.8%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65.1%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19.7%</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$22,725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$548</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dirty="0">
                          <a:solidFill>
                            <a:srgbClr val="1E1B24"/>
                          </a:solidFill>
                        </a:rPr>
                        <a:t>17.6%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384048">
                <a:tc>
                  <a:txBody>
                    <a:bodyPr/>
                    <a:lstStyle/>
                    <a:p>
                      <a:pPr algn="ctr" indent="0" marL="0">
                        <a:buNone/>
                      </a:pPr>
                      <a:r>
                        <a:rPr lang="en-US" sz="1200" b="1" dirty="0">
                          <a:solidFill>
                            <a:srgbClr val="1E1B24"/>
                          </a:solidFill>
                        </a:rPr>
                        <a:t>Total</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17,152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4,951</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3,682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1,082</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$10.05M</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28.9%</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74.4%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29.4%</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6.3%</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$9,285</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$586</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200" b="1" dirty="0">
                          <a:solidFill>
                            <a:srgbClr val="1E1B24"/>
                          </a:solidFill>
                        </a:rPr>
                        <a:t>100.0%</a:t>
                      </a:r>
                      <a:endParaRPr lang="en-US" sz="12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4" name="Bucket notes"/>
          <p:cNvSpPr/>
          <p:nvPr/>
        </p:nvSpPr>
        <p:spPr>
          <a:xfrm>
            <a:off x="457200" y="4343400"/>
            <a:ext cx="11274552" cy="1371600"/>
          </a:xfrm>
          <a:prstGeom prst="rect">
            <a:avLst/>
          </a:prstGeom>
          <a:solidFill>
            <a:srgbClr val="F3EFF2"/>
          </a:solidFill>
          <a:ln w="12700">
            <a:solidFill>
              <a:srgbClr val="F3EFF2"/>
            </a:solidFill>
            <a:prstDash val="solid"/>
          </a:ln>
        </p:spPr>
      </p:sp>
      <p:sp>
        <p:nvSpPr>
          <p:cNvPr id="5" name="Text 2"/>
          <p:cNvSpPr txBox="1"/>
          <p:nvPr/>
        </p:nvSpPr>
        <p:spPr>
          <a:xfrm>
            <a:off x="640080" y="4434840"/>
            <a:ext cx="1092708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1B24"/>
                </a:solidFill>
              </a:rPr>
              <a:t>1–10 and 11–50 convert identically (10.0% lead→win); 1–10 earns $2,987 per logo and its leads shrank over the year.</a:t>
            </a:r>
            <a:endParaRPr lang="en-US" sz="1300" dirty="0"/>
          </a:p>
          <a:p>
            <a:pPr marL="342900" indent="-342900">
              <a:spcAft>
                <a:spcPts val="400"/>
              </a:spcAft>
              <a:buSzPct val="100000"/>
              <a:buChar char="•"/>
            </a:pPr>
            <a:r>
              <a:rPr lang="en-US" sz="1300" dirty="0">
                <a:solidFill>
                  <a:srgbClr val="1E1B24"/>
                </a:solidFill>
              </a:rPr>
              <a:t>Total 12-month new ARR $10.05M; monthly new ARR rose from $0.69M (Feb-21) to a record $1.28M (Jan-22).</a:t>
            </a:r>
            <a:endParaRPr lang="en-US" sz="1300" dirty="0"/>
          </a:p>
          <a:p>
            <a:pPr marL="342900" indent="-342900">
              <a:spcAft>
                <a:spcPts val="400"/>
              </a:spcAft>
              <a:buSzPct val="100000"/>
              <a:buChar char="•"/>
            </a:pPr>
            <a:r>
              <a:rPr lang="en-US" sz="1300" dirty="0">
                <a:solidFill>
                  <a:srgbClr val="1E1B24"/>
                </a:solidFill>
              </a:rPr>
              <a:t>Nov–Dec 2021: leads fell ~47% vs Oct and all rates dipped. Excluded from the staffing baseline; if it recurs, annual ARR is below the ×12 run-rate.</a:t>
            </a:r>
            <a:endParaRPr lang="en-US" sz="1300" dirty="0"/>
          </a:p>
        </p:txBody>
      </p:sp>
      <p:sp>
        <p:nvSpPr>
          <p:cNvPr id="6"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Source: case dataset (fictional), Feb-2021 to Jan-2022. Rates use summed numerators and denominators; same-month ratios, not cohorts.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A4. Segmentation options compared: the four-segment model keeps each team within one deal size and conversion profile</a:t>
            </a:r>
            <a:endParaRPr lang="en-US" sz="2600" dirty="0"/>
          </a:p>
        </p:txBody>
      </p:sp>
      <p:graphicFrame>
        <p:nvGraphicFramePr>
          <p:cNvPr id="14" name="Options table"/>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2743200"/>
                <a:gridCol w="2377440"/>
                <a:gridCol w="3108960"/>
                <a:gridCol w="3044952"/>
              </a:tblGrid>
              <a:tr h="411480">
                <a:tc>
                  <a:txBody>
                    <a:bodyPr/>
                    <a:lstStyle/>
                    <a:p>
                      <a:pPr indent="0" marL="0">
                        <a:buNone/>
                      </a:pPr>
                      <a:r>
                        <a:rPr lang="en-US" sz="1300" b="1" dirty="0">
                          <a:solidFill>
                            <a:srgbClr val="FFFFFF"/>
                          </a:solidFill>
                        </a:rPr>
                        <a:t>Option</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indent="0" marL="0">
                        <a:buNone/>
                      </a:pPr>
                      <a:r>
                        <a:rPr lang="en-US" sz="1300" b="1" dirty="0">
                          <a:solidFill>
                            <a:srgbClr val="FFFFFF"/>
                          </a:solidFill>
                        </a:rPr>
                        <a:t>Segments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indent="0" marL="0">
                        <a:buNone/>
                      </a:pPr>
                      <a:r>
                        <a:rPr lang="en-US" sz="1300" b="1" dirty="0">
                          <a:solidFill>
                            <a:srgbClr val="FFFFFF"/>
                          </a:solidFill>
                        </a:rPr>
                        <a:t>Strength</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indent="0" marL="0">
                        <a:buNone/>
                      </a:pPr>
                      <a:r>
                        <a:rPr lang="en-US" sz="1300" b="1" dirty="0">
                          <a:solidFill>
                            <a:srgbClr val="FFFFFF"/>
                          </a:solidFill>
                        </a:rPr>
                        <a:t>Weakness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777240">
                <a:tc>
                  <a:txBody>
                    <a:bodyPr/>
                    <a:lstStyle/>
                    <a:p>
                      <a:pPr indent="0" marL="0">
                        <a:buNone/>
                      </a:pPr>
                      <a:r>
                        <a:rPr lang="en-US" sz="1300" dirty="0">
                          <a:solidFill>
                            <a:srgbClr val="1E1B24"/>
                          </a:solidFill>
                        </a:rPr>
                        <a:t>Recommended: 4 segments / 3 motions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1–50 · 51–100 · 101–500 · 501+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Each AE team sits in one conversion regime and deal-size band; protects 51–100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More routing rules and quota plans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777240">
                <a:tc>
                  <a:txBody>
                    <a:bodyPr/>
                    <a:lstStyle/>
                    <a:p>
                      <a:pPr indent="0" marL="0">
                        <a:buNone/>
                      </a:pPr>
                      <a:r>
                        <a:rPr lang="en-US" sz="1300" dirty="0">
                          <a:solidFill>
                            <a:srgbClr val="1E1B24"/>
                          </a:solidFill>
                        </a:rPr>
                        <a:t>A. Conventional 3-tier</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1–100 · 101–500 · 501+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Simplest; uniform conversion within tiers</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Mixes $2,987 and $9,313 ARR/logo (3.1× spread) in one AE queue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777240">
                <a:tc>
                  <a:txBody>
                    <a:bodyPr/>
                    <a:lstStyle/>
                    <a:p>
                      <a:pPr indent="0" marL="0">
                        <a:buNone/>
                      </a:pPr>
                      <a:r>
                        <a:rPr lang="en-US" sz="1300" dirty="0">
                          <a:solidFill>
                            <a:srgbClr val="1E1B24"/>
                          </a:solidFill>
                        </a:rPr>
                        <a:t>B. Alternative 3-tier</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1–50 · 51–500 · 501+</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Splits on deal size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indent="0" marL="0">
                        <a:buNone/>
                      </a:pPr>
                      <a:r>
                        <a:rPr lang="en-US" sz="1300" dirty="0">
                          <a:solidFill>
                            <a:srgbClr val="1E1B24"/>
                          </a:solidFill>
                        </a:rPr>
                        <a:t>Mixes 9.6% and 4.6% lead→win (2.1×) in one Mid-Market team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4"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Boundaries can only fall on dataset bucket edges. Finer employee-count data (especially inside 101–500) would let us test other cut points.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A5. Optional, illustrative: required capacity implies roughly $10.6M of annual fully loaded cost</a:t>
            </a:r>
            <a:endParaRPr lang="en-US" sz="2600" dirty="0"/>
          </a:p>
        </p:txBody>
      </p:sp>
      <p:graphicFrame>
        <p:nvGraphicFramePr>
          <p:cNvPr id="15" name="Cost table"/>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2011680"/>
                <a:gridCol w="2011680"/>
                <a:gridCol w="1783080"/>
                <a:gridCol w="1828800"/>
                <a:gridCol w="1783080"/>
                <a:gridCol w="1856232"/>
              </a:tblGrid>
              <a:tr h="438912">
                <a:tc>
                  <a:txBody>
                    <a:bodyPr/>
                    <a:lstStyle/>
                    <a:p>
                      <a:pPr algn="ctr" indent="0" marL="0">
                        <a:buNone/>
                      </a:pPr>
                      <a:r>
                        <a:rPr lang="en-US" sz="1300" b="1" dirty="0">
                          <a:solidFill>
                            <a:srgbClr val="FFFFFF"/>
                          </a:solidFill>
                        </a:rPr>
                        <a:t>Role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Illustrative loaded cost / FTE</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Baseline headcount</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Baseline cost</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Upside headcount</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c>
                  <a:txBody>
                    <a:bodyPr/>
                    <a:lstStyle/>
                    <a:p>
                      <a:pPr algn="ctr" indent="0" marL="0">
                        <a:buNone/>
                      </a:pPr>
                      <a:r>
                        <a:rPr lang="en-US" sz="1300" b="1" dirty="0">
                          <a:solidFill>
                            <a:srgbClr val="FFFFFF"/>
                          </a:solidFill>
                        </a:rPr>
                        <a:t>Upside cost</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solidFill>
                      <a:srgbClr val="4B1D3F"/>
                    </a:solidFill>
                  </a:tcPr>
                </a:tc>
              </a:tr>
              <a:tr h="438912">
                <a:tc>
                  <a:txBody>
                    <a:bodyPr/>
                    <a:lstStyle/>
                    <a:p>
                      <a:pPr algn="ctr" indent="0" marL="0">
                        <a:buNone/>
                      </a:pPr>
                      <a:r>
                        <a:rPr lang="en-US" sz="1300" dirty="0">
                          <a:solidFill>
                            <a:srgbClr val="1E1B24"/>
                          </a:solidFill>
                        </a:rPr>
                        <a:t>SDR</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$115,000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13</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$1.50M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13</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$1.50M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38912">
                <a:tc>
                  <a:txBody>
                    <a:bodyPr/>
                    <a:lstStyle/>
                    <a:p>
                      <a:pPr algn="ctr" indent="0" marL="0">
                        <a:buNone/>
                      </a:pPr>
                      <a:r>
                        <a:rPr lang="en-US" sz="1300" dirty="0">
                          <a:solidFill>
                            <a:srgbClr val="1E1B24"/>
                          </a:solidFill>
                        </a:rPr>
                        <a:t>AE (blended)</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$250,000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27</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$6.75M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28</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$7.00M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38912">
                <a:tc>
                  <a:txBody>
                    <a:bodyPr/>
                    <a:lstStyle/>
                    <a:p>
                      <a:pPr algn="ctr" indent="0" marL="0">
                        <a:buNone/>
                      </a:pPr>
                      <a:r>
                        <a:rPr lang="en-US" sz="1300" dirty="0">
                          <a:solidFill>
                            <a:srgbClr val="1E1B24"/>
                          </a:solidFill>
                        </a:rPr>
                        <a:t>SC</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$265,000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9</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$2.38M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9</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dirty="0">
                          <a:solidFill>
                            <a:srgbClr val="1E1B24"/>
                          </a:solidFill>
                        </a:rPr>
                        <a:t>$2.38M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r h="438912">
                <a:tc>
                  <a:txBody>
                    <a:bodyPr/>
                    <a:lstStyle/>
                    <a:p>
                      <a:pPr algn="ctr" indent="0" marL="0">
                        <a:buNone/>
                      </a:pPr>
                      <a:r>
                        <a:rPr lang="en-US" sz="1300" b="1" dirty="0">
                          <a:solidFill>
                            <a:srgbClr val="1E1B24"/>
                          </a:solidFill>
                        </a:rPr>
                        <a:t>Total</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1E1B24"/>
                          </a:solidFill>
                        </a:rPr>
                        <a:t>49</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1E1B24"/>
                          </a:solidFill>
                        </a:rPr>
                        <a:t>$10.63M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1E1B24"/>
                          </a:solidFill>
                        </a:rPr>
                        <a:t>50</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c>
                  <a:txBody>
                    <a:bodyPr/>
                    <a:lstStyle/>
                    <a:p>
                      <a:pPr algn="ctr" indent="0" marL="0">
                        <a:buNone/>
                      </a:pPr>
                      <a:r>
                        <a:rPr lang="en-US" sz="1300" b="1" dirty="0">
                          <a:solidFill>
                            <a:srgbClr val="1E1B24"/>
                          </a:solidFill>
                        </a:rPr>
                        <a:t>$10.88M</a:t>
                      </a:r>
                      <a:endParaRPr lang="en-US" sz="1300" dirty="0"/>
                    </a:p>
                  </a:txBody>
                  <a:tcPr marL="91440" marR="91440" marT="45720" marB="45720" anchor="ctr">
                    <a:lnL w="6350" cap="flat" cmpd="sng" algn="ctr">
                      <a:solidFill>
                        <a:srgbClr val="D9D2D7"/>
                      </a:solidFill>
                      <a:prstDash val="solid"/>
                      <a:round/>
                      <a:headEnd type="none" w="med" len="med"/>
                      <a:tailEnd type="none" w="med" len="med"/>
                    </a:lnL>
                    <a:lnR w="6350" cap="flat" cmpd="sng" algn="ctr">
                      <a:solidFill>
                        <a:srgbClr val="D9D2D7"/>
                      </a:solidFill>
                      <a:prstDash val="solid"/>
                      <a:round/>
                      <a:headEnd type="none" w="med" len="med"/>
                      <a:tailEnd type="none" w="med" len="med"/>
                    </a:lnR>
                    <a:lnT w="6350" cap="flat" cmpd="sng" algn="ctr">
                      <a:solidFill>
                        <a:srgbClr val="D9D2D7"/>
                      </a:solidFill>
                      <a:prstDash val="solid"/>
                      <a:round/>
                      <a:headEnd type="none" w="med" len="med"/>
                      <a:tailEnd type="none" w="med" len="med"/>
                    </a:lnT>
                    <a:lnB w="6350" cap="flat" cmpd="sng" algn="ctr">
                      <a:solidFill>
                        <a:srgbClr val="D9D2D7"/>
                      </a:solidFill>
                      <a:prstDash val="solid"/>
                      <a:round/>
                      <a:headEnd type="none" w="med" len="med"/>
                      <a:tailEnd type="none" w="med" len="med"/>
                    </a:lnB>
                  </a:tcPr>
                </a:tc>
              </a:tr>
            </a:tbl>
          </a:graphicData>
        </a:graphic>
      </p:graphicFrame>
      <p:sp>
        <p:nvSpPr>
          <p:cNvPr id="4" name="Cost caveat"/>
          <p:cNvSpPr/>
          <p:nvPr/>
        </p:nvSpPr>
        <p:spPr>
          <a:xfrm>
            <a:off x="457200" y="4023360"/>
            <a:ext cx="11274552" cy="1005840"/>
          </a:xfrm>
          <a:prstGeom prst="rect">
            <a:avLst/>
          </a:prstGeom>
          <a:solidFill>
            <a:srgbClr val="F3EFF2"/>
          </a:solidFill>
          <a:ln w="12700">
            <a:solidFill>
              <a:srgbClr val="F3EFF2"/>
            </a:solidFill>
            <a:prstDash val="solid"/>
          </a:ln>
        </p:spPr>
      </p:sp>
      <p:sp>
        <p:nvSpPr>
          <p:cNvPr id="5" name="Text 2"/>
          <p:cNvSpPr txBox="1"/>
          <p:nvPr/>
        </p:nvSpPr>
        <p:spPr>
          <a:xfrm>
            <a:off x="640080" y="4114800"/>
            <a:ext cx="10927080" cy="8229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1B24"/>
                </a:solidFill>
              </a:rPr>
              <a:t>Scale only. San Francisco loaded cost (salary + target variable + benefits) is illustrative and should be validated with Comp.</a:t>
            </a:r>
            <a:endParaRPr lang="en-US" sz="1300" dirty="0"/>
          </a:p>
          <a:p>
            <a:pPr marL="342900" indent="-342900">
              <a:spcAft>
                <a:spcPts val="400"/>
              </a:spcAft>
              <a:buSzPct val="100000"/>
              <a:buChar char="•"/>
            </a:pPr>
            <a:r>
              <a:rPr lang="en-US" sz="1300" dirty="0">
                <a:solidFill>
                  <a:srgbClr val="1E1B24"/>
                </a:solidFill>
              </a:rPr>
              <a:t>Current headcount is unknown, so this is not incremental spend. It is not an ROI, CAC or payback analysis; the dataset has no cost data.</a:t>
            </a:r>
            <a:endParaRPr lang="en-US" sz="1300" dirty="0"/>
          </a:p>
        </p:txBody>
      </p:sp>
      <p:sp>
        <p:nvSpPr>
          <p:cNvPr id="6"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Staffing assumptions are illustrative, not company data. Headcount = required capacity, not net-new hires (current headcount unknown).</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t"/>
          <a:lstStyle/>
          <a:p>
            <a:pPr algn="l" indent="0" marL="0">
              <a:buNone/>
            </a:pPr>
            <a:r>
              <a:rPr lang="en-US" sz="2600" b="1" dirty="0">
                <a:solidFill>
                  <a:srgbClr val="4B1D3F"/>
                </a:solidFill>
              </a:rPr>
              <a:t>A6. Data notes, limitations and what we would want next</a:t>
            </a:r>
            <a:endParaRPr lang="en-US" sz="2600" dirty="0"/>
          </a:p>
        </p:txBody>
      </p:sp>
      <p:sp>
        <p:nvSpPr>
          <p:cNvPr id="3" name="Notes Data checks"/>
          <p:cNvSpPr/>
          <p:nvPr/>
        </p:nvSpPr>
        <p:spPr>
          <a:xfrm>
            <a:off x="457200" y="1325880"/>
            <a:ext cx="3630168" cy="3566160"/>
          </a:xfrm>
          <a:prstGeom prst="rect">
            <a:avLst/>
          </a:prstGeom>
          <a:solidFill>
            <a:srgbClr val="F3EFF2"/>
          </a:solidFill>
          <a:ln w="12700">
            <a:solidFill>
              <a:srgbClr val="F3EFF2"/>
            </a:solidFill>
            <a:prstDash val="solid"/>
          </a:ln>
        </p:spPr>
      </p:sp>
      <p:sp>
        <p:nvSpPr>
          <p:cNvPr id="4" name="Text 2"/>
          <p:cNvSpPr txBox="1"/>
          <p:nvPr/>
        </p:nvSpPr>
        <p:spPr>
          <a:xfrm>
            <a:off x="640080" y="1463040"/>
            <a:ext cx="3264408" cy="365760"/>
          </a:xfrm>
          <a:prstGeom prst="rect">
            <a:avLst/>
          </a:prstGeom>
          <a:noFill/>
          <a:ln/>
        </p:spPr>
        <p:txBody>
          <a:bodyPr wrap="square" lIns="0" tIns="0" rIns="0" bIns="0" rtlCol="0" anchor="ctr"/>
          <a:lstStyle/>
          <a:p>
            <a:pPr indent="0" marL="0">
              <a:buNone/>
            </a:pPr>
            <a:r>
              <a:rPr lang="en-US" sz="1700" b="1" dirty="0">
                <a:solidFill>
                  <a:srgbClr val="4B1D3F"/>
                </a:solidFill>
              </a:rPr>
              <a:t>Data checks</a:t>
            </a:r>
            <a:endParaRPr lang="en-US" sz="1700" dirty="0"/>
          </a:p>
        </p:txBody>
      </p:sp>
      <p:sp>
        <p:nvSpPr>
          <p:cNvPr id="5" name="Text 3"/>
          <p:cNvSpPr txBox="1"/>
          <p:nvPr/>
        </p:nvSpPr>
        <p:spPr>
          <a:xfrm>
            <a:off x="640080" y="1920240"/>
            <a:ext cx="3264408"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1B24"/>
                </a:solidFill>
              </a:rPr>
              <a:t>60 monthly rows: 12 months × 5 buckets, no gaps</a:t>
            </a:r>
            <a:endParaRPr lang="en-US" sz="1400" dirty="0"/>
          </a:p>
          <a:p>
            <a:pPr marL="342900" indent="-342900">
              <a:spcAft>
                <a:spcPts val="800"/>
              </a:spcAft>
              <a:buSzPct val="100000"/>
              <a:buChar char="•"/>
            </a:pPr>
            <a:r>
              <a:rPr lang="en-US" sz="1400" dirty="0">
                <a:solidFill>
                  <a:srgbClr val="1E1B24"/>
                </a:solidFill>
              </a:rPr>
              <a:t>No missing values or duplicates</a:t>
            </a:r>
            <a:endParaRPr lang="en-US" sz="1400" dirty="0"/>
          </a:p>
          <a:p>
            <a:pPr marL="342900" indent="-342900">
              <a:spcAft>
                <a:spcPts val="800"/>
              </a:spcAft>
              <a:buSzPct val="100000"/>
              <a:buChar char="•"/>
            </a:pPr>
            <a:r>
              <a:rPr lang="en-US" sz="1400" dirty="0">
                <a:solidFill>
                  <a:srgbClr val="1E1B24"/>
                </a:solidFill>
              </a:rPr>
              <a:t>Funnel ordered in every row (leads ≥ demos ≥ opps ≥ logos)</a:t>
            </a:r>
            <a:endParaRPr lang="en-US" sz="1400" dirty="0"/>
          </a:p>
          <a:p>
            <a:pPr marL="342900" indent="-342900">
              <a:spcAft>
                <a:spcPts val="800"/>
              </a:spcAft>
              <a:buSzPct val="100000"/>
              <a:buChar char="•"/>
            </a:pPr>
            <a:r>
              <a:rPr lang="en-US" sz="1400" dirty="0">
                <a:solidFill>
                  <a:srgbClr val="1E1B24"/>
                </a:solidFill>
              </a:rPr>
              <a:t>All monthly; no annual records to reconcile</a:t>
            </a:r>
            <a:endParaRPr lang="en-US" sz="1400" dirty="0"/>
          </a:p>
        </p:txBody>
      </p:sp>
      <p:sp>
        <p:nvSpPr>
          <p:cNvPr id="6" name="Notes Limitations"/>
          <p:cNvSpPr/>
          <p:nvPr/>
        </p:nvSpPr>
        <p:spPr>
          <a:xfrm>
            <a:off x="4279392" y="1325880"/>
            <a:ext cx="3630168" cy="3566160"/>
          </a:xfrm>
          <a:prstGeom prst="rect">
            <a:avLst/>
          </a:prstGeom>
          <a:solidFill>
            <a:srgbClr val="F3EFF2"/>
          </a:solidFill>
          <a:ln w="12700">
            <a:solidFill>
              <a:srgbClr val="F3EFF2"/>
            </a:solidFill>
            <a:prstDash val="solid"/>
          </a:ln>
        </p:spPr>
      </p:sp>
      <p:sp>
        <p:nvSpPr>
          <p:cNvPr id="7" name="Text 5"/>
          <p:cNvSpPr txBox="1"/>
          <p:nvPr/>
        </p:nvSpPr>
        <p:spPr>
          <a:xfrm>
            <a:off x="4462272" y="1463040"/>
            <a:ext cx="3264408" cy="365760"/>
          </a:xfrm>
          <a:prstGeom prst="rect">
            <a:avLst/>
          </a:prstGeom>
          <a:noFill/>
          <a:ln/>
        </p:spPr>
        <p:txBody>
          <a:bodyPr wrap="square" lIns="0" tIns="0" rIns="0" bIns="0" rtlCol="0" anchor="ctr"/>
          <a:lstStyle/>
          <a:p>
            <a:pPr indent="0" marL="0">
              <a:buNone/>
            </a:pPr>
            <a:r>
              <a:rPr lang="en-US" sz="1700" b="1" dirty="0">
                <a:solidFill>
                  <a:srgbClr val="4B1D3F"/>
                </a:solidFill>
              </a:rPr>
              <a:t>Limitations</a:t>
            </a:r>
            <a:endParaRPr lang="en-US" sz="1700" dirty="0"/>
          </a:p>
        </p:txBody>
      </p:sp>
      <p:sp>
        <p:nvSpPr>
          <p:cNvPr id="8" name="Text 6"/>
          <p:cNvSpPr txBox="1"/>
          <p:nvPr/>
        </p:nvSpPr>
        <p:spPr>
          <a:xfrm>
            <a:off x="4462272" y="1920240"/>
            <a:ext cx="3264408"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1B24"/>
                </a:solidFill>
              </a:rPr>
              <a:t>No headcount, so required capacity ≠ hires</a:t>
            </a:r>
            <a:endParaRPr lang="en-US" sz="1400" dirty="0"/>
          </a:p>
          <a:p>
            <a:pPr marL="342900" indent="-342900">
              <a:spcAft>
                <a:spcPts val="800"/>
              </a:spcAft>
              <a:buSzPct val="100000"/>
              <a:buChar char="•"/>
            </a:pPr>
            <a:r>
              <a:rPr lang="en-US" sz="1400" dirty="0">
                <a:solidFill>
                  <a:srgbClr val="1E1B24"/>
                </a:solidFill>
              </a:rPr>
              <a:t>Same-month ratios, not cohort conversion</a:t>
            </a:r>
            <a:endParaRPr lang="en-US" sz="1400" dirty="0"/>
          </a:p>
          <a:p>
            <a:pPr marL="342900" indent="-342900">
              <a:spcAft>
                <a:spcPts val="800"/>
              </a:spcAft>
              <a:buSzPct val="100000"/>
              <a:buChar char="•"/>
            </a:pPr>
            <a:r>
              <a:rPr lang="en-US" sz="1400" dirty="0">
                <a:solidFill>
                  <a:srgbClr val="1E1B24"/>
                </a:solidFill>
              </a:rPr>
              <a:t>One year: Nov–Dec dip not confirmed as seasonal</a:t>
            </a:r>
            <a:endParaRPr lang="en-US" sz="1400" dirty="0"/>
          </a:p>
          <a:p>
            <a:pPr marL="342900" indent="-342900">
              <a:spcAft>
                <a:spcPts val="800"/>
              </a:spcAft>
              <a:buSzPct val="100000"/>
              <a:buChar char="•"/>
            </a:pPr>
            <a:r>
              <a:rPr lang="en-US" sz="1400" dirty="0">
                <a:solidFill>
                  <a:srgbClr val="1E1B24"/>
                </a:solidFill>
              </a:rPr>
              <a:t>101–500 is one wide bucket</a:t>
            </a:r>
            <a:endParaRPr lang="en-US" sz="1400" dirty="0"/>
          </a:p>
          <a:p>
            <a:pPr marL="342900" indent="-342900">
              <a:spcAft>
                <a:spcPts val="800"/>
              </a:spcAft>
              <a:buSzPct val="100000"/>
              <a:buChar char="•"/>
            </a:pPr>
            <a:r>
              <a:rPr lang="en-US" sz="1400" dirty="0">
                <a:solidFill>
                  <a:srgbClr val="1E1B24"/>
                </a:solidFill>
              </a:rPr>
              <a:t>No cost data: ARR per lead is not ROI</a:t>
            </a:r>
            <a:endParaRPr lang="en-US" sz="1400" dirty="0"/>
          </a:p>
        </p:txBody>
      </p:sp>
      <p:sp>
        <p:nvSpPr>
          <p:cNvPr id="9" name="Notes Data we would want"/>
          <p:cNvSpPr/>
          <p:nvPr/>
        </p:nvSpPr>
        <p:spPr>
          <a:xfrm>
            <a:off x="8101584" y="1325880"/>
            <a:ext cx="3630168" cy="3566160"/>
          </a:xfrm>
          <a:prstGeom prst="rect">
            <a:avLst/>
          </a:prstGeom>
          <a:solidFill>
            <a:srgbClr val="F3EFF2"/>
          </a:solidFill>
          <a:ln w="12700">
            <a:solidFill>
              <a:srgbClr val="F3EFF2"/>
            </a:solidFill>
            <a:prstDash val="solid"/>
          </a:ln>
        </p:spPr>
      </p:sp>
      <p:sp>
        <p:nvSpPr>
          <p:cNvPr id="10" name="Text 8"/>
          <p:cNvSpPr txBox="1"/>
          <p:nvPr/>
        </p:nvSpPr>
        <p:spPr>
          <a:xfrm>
            <a:off x="8284464" y="1463040"/>
            <a:ext cx="3264408" cy="365760"/>
          </a:xfrm>
          <a:prstGeom prst="rect">
            <a:avLst/>
          </a:prstGeom>
          <a:noFill/>
          <a:ln/>
        </p:spPr>
        <p:txBody>
          <a:bodyPr wrap="square" lIns="0" tIns="0" rIns="0" bIns="0" rtlCol="0" anchor="ctr"/>
          <a:lstStyle/>
          <a:p>
            <a:pPr indent="0" marL="0">
              <a:buNone/>
            </a:pPr>
            <a:r>
              <a:rPr lang="en-US" sz="1700" b="1" dirty="0">
                <a:solidFill>
                  <a:srgbClr val="4B1D3F"/>
                </a:solidFill>
              </a:rPr>
              <a:t>Data we would want</a:t>
            </a:r>
            <a:endParaRPr lang="en-US" sz="1700" dirty="0"/>
          </a:p>
        </p:txBody>
      </p:sp>
      <p:sp>
        <p:nvSpPr>
          <p:cNvPr id="11" name="Text 9"/>
          <p:cNvSpPr txBox="1"/>
          <p:nvPr/>
        </p:nvSpPr>
        <p:spPr>
          <a:xfrm>
            <a:off x="8284464" y="1920240"/>
            <a:ext cx="3264408"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1B24"/>
                </a:solidFill>
              </a:rPr>
              <a:t>Current SDR / AE / SC headcount and ramp status</a:t>
            </a:r>
            <a:endParaRPr lang="en-US" sz="1400" dirty="0"/>
          </a:p>
          <a:p>
            <a:pPr marL="342900" indent="-342900">
              <a:spcAft>
                <a:spcPts val="800"/>
              </a:spcAft>
              <a:buSzPct val="100000"/>
              <a:buChar char="•"/>
            </a:pPr>
            <a:r>
              <a:rPr lang="en-US" sz="1400" dirty="0">
                <a:solidFill>
                  <a:srgbClr val="1E1B24"/>
                </a:solidFill>
              </a:rPr>
              <a:t>Speed-to-lead and lead source by segment</a:t>
            </a:r>
            <a:endParaRPr lang="en-US" sz="1400" dirty="0"/>
          </a:p>
          <a:p>
            <a:pPr marL="342900" indent="-342900">
              <a:spcAft>
                <a:spcPts val="800"/>
              </a:spcAft>
              <a:buSzPct val="100000"/>
              <a:buChar char="•"/>
            </a:pPr>
            <a:r>
              <a:rPr lang="en-US" sz="1400" dirty="0">
                <a:solidFill>
                  <a:srgbClr val="1E1B24"/>
                </a:solidFill>
              </a:rPr>
              <a:t>Closed-lost reasons and sales-cycle length</a:t>
            </a:r>
            <a:endParaRPr lang="en-US" sz="1400" dirty="0"/>
          </a:p>
          <a:p>
            <a:pPr marL="342900" indent="-342900">
              <a:spcAft>
                <a:spcPts val="800"/>
              </a:spcAft>
              <a:buSzPct val="100000"/>
              <a:buChar char="•"/>
            </a:pPr>
            <a:r>
              <a:rPr lang="en-US" sz="1400" dirty="0">
                <a:solidFill>
                  <a:srgbClr val="1E1B24"/>
                </a:solidFill>
              </a:rPr>
              <a:t>Rep-level activity and capacity</a:t>
            </a:r>
            <a:endParaRPr lang="en-US" sz="1400" dirty="0"/>
          </a:p>
          <a:p>
            <a:pPr marL="342900" indent="-342900">
              <a:spcAft>
                <a:spcPts val="800"/>
              </a:spcAft>
              <a:buSzPct val="100000"/>
              <a:buChar char="•"/>
            </a:pPr>
            <a:r>
              <a:rPr lang="en-US" sz="1400" dirty="0">
                <a:solidFill>
                  <a:srgbClr val="1E1B24"/>
                </a:solidFill>
              </a:rPr>
              <a:t>Retention / NRR by segment</a:t>
            </a:r>
            <a:endParaRPr lang="en-US" sz="1400" dirty="0"/>
          </a:p>
        </p:txBody>
      </p:sp>
      <p:sp>
        <p:nvSpPr>
          <p:cNvPr id="12" name="Source note"/>
          <p:cNvSpPr txBox="1"/>
          <p:nvPr/>
        </p:nvSpPr>
        <p:spPr>
          <a:xfrm>
            <a:off x="457200" y="6400800"/>
            <a:ext cx="10607040" cy="320040"/>
          </a:xfrm>
          <a:prstGeom prst="rect">
            <a:avLst/>
          </a:prstGeom>
          <a:noFill/>
          <a:ln/>
        </p:spPr>
        <p:txBody>
          <a:bodyPr wrap="square" lIns="0" tIns="0" rIns="0" bIns="0" rtlCol="0" anchor="ctr"/>
          <a:lstStyle/>
          <a:p>
            <a:pPr indent="0" marL="0">
              <a:buNone/>
            </a:pPr>
            <a:r>
              <a:rPr lang="en-US" sz="1000" dirty="0">
                <a:solidFill>
                  <a:srgbClr val="6B6470"/>
                </a:solidFill>
              </a:rPr>
              <a:t>Source: case dataset (fictional), Feb-2021 to Jan-2022. Rates use summed numerators and denominators; same-month ratios, not cohorts.</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70"/>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evOps Case">
  <a:themeElements>
    <a:clrScheme name="RevOps Case">
      <a:dk1>
        <a:srgbClr val="1E1B24"/>
      </a:dk1>
      <a:lt1>
        <a:srgbClr val="FFFFFF"/>
      </a:lt1>
      <a:dk2>
        <a:srgbClr val="4B1D3F"/>
      </a:dk2>
      <a:lt2>
        <a:srgbClr val="F3EFF2"/>
      </a:lt2>
      <a:accent1>
        <a:srgbClr val="4B1D3F"/>
      </a:accent1>
      <a:accent2>
        <a:srgbClr val="C98A2B"/>
      </a:accent2>
      <a:accent3>
        <a:srgbClr val="8C6A80"/>
      </a:accent3>
      <a:accent4>
        <a:srgbClr val="BFB3BC"/>
      </a:accent4>
      <a:accent5>
        <a:srgbClr val="2E7D6B"/>
      </a:accent5>
      <a:accent6>
        <a:srgbClr val="B23A48"/>
      </a:accent6>
      <a:hlink>
        <a:srgbClr val="4B1D3F"/>
      </a:hlink>
      <a:folHlink>
        <a:srgbClr val="8C6A80"/>
      </a:folHlink>
    </a:clrScheme>
    <a:fontScheme name="RevOps Ca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New-Business Segmentation and Sales Staffing</dc:title>
  <dc:subject>PptxGenJS Presentation</dc:subject>
  <dc:creator>PptxGenJS</dc:creator>
  <cp:lastModifiedBy>PptxGenJS</cp:lastModifiedBy>
  <cp:revision>1</cp:revision>
  <dcterms:created xsi:type="dcterms:W3CDTF">2026-10-14T03:32:25Z</dcterms:created>
  <dcterms:modified xsi:type="dcterms:W3CDTF">2026-10-14T03:32:25Z</dcterms:modified>
</cp:coreProperties>
</file>